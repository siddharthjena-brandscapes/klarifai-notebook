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2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4630400" cy="8229600"/>
  <p:notesSz cx="8229600" cy="14630400"/>
  <p:embeddedFontLst>
    <p:embeddedFont>
      <p:font typeface="Century Gothic" panose="020B0502020202020204" pitchFamily="34" charset="0"/>
      <p:regular r:id="rId17"/>
      <p:bold r:id="rId18"/>
      <p:italic r:id="rId19"/>
      <p:boldItalic r:id="rId20"/>
    </p:embeddedFont>
    <p:embeddedFont>
      <p:font typeface="Heebo Bold" pitchFamily="2" charset="-79"/>
      <p:bold r:id="rId21"/>
    </p:embeddedFont>
    <p:embeddedFont>
      <p:font typeface="Heebo Light" pitchFamily="2" charset="-79"/>
      <p:regular r:id="rId22"/>
    </p:embeddedFont>
    <p:embeddedFont>
      <p:font typeface="Montserrat" panose="00000500000000000000" pitchFamily="2" charset="0"/>
      <p:regular r:id="rId23"/>
    </p:embeddedFont>
    <p:embeddedFont>
      <p:font typeface="Wingdings 3" panose="05040102010807070707" pitchFamily="18" charset="2"/>
      <p:regular r:id="rId2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2" d="100"/>
          <a:sy n="62" d="100"/>
        </p:scale>
        <p:origin x="33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602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85946" y="1737361"/>
            <a:ext cx="10590790" cy="3995497"/>
          </a:xfrm>
        </p:spPr>
        <p:txBody>
          <a:bodyPr anchor="b"/>
          <a:lstStyle>
            <a:lvl1pPr>
              <a:defRPr sz="8640"/>
            </a:lvl1pPr>
          </a:lstStyle>
          <a:p>
            <a:r>
              <a:rPr lang="en-US"/>
              <a:t>Click to edit Master title style</a:t>
            </a:r>
            <a:endParaRPr lang="en-US" dirty="0"/>
          </a:p>
        </p:txBody>
      </p:sp>
      <p:sp>
        <p:nvSpPr>
          <p:cNvPr id="3" name="Subtitle 2"/>
          <p:cNvSpPr>
            <a:spLocks noGrp="1"/>
          </p:cNvSpPr>
          <p:nvPr>
            <p:ph type="subTitle" idx="1"/>
          </p:nvPr>
        </p:nvSpPr>
        <p:spPr>
          <a:xfrm>
            <a:off x="1385946" y="5732856"/>
            <a:ext cx="10590790" cy="1033704"/>
          </a:xfrm>
        </p:spPr>
        <p:txBody>
          <a:bodyPr anchor="t"/>
          <a:lstStyle>
            <a:lvl1pPr marL="0" indent="0" algn="l">
              <a:buNone/>
              <a:defRPr cap="all">
                <a:solidFill>
                  <a:schemeClr val="accent1"/>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11/15/2024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66189975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smtClean="0"/>
              <a:t>11/15/2024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46745159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85948" y="3434080"/>
            <a:ext cx="10590788" cy="2298776"/>
          </a:xfrm>
        </p:spPr>
        <p:txBody>
          <a:bodyPr anchor="b"/>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385946" y="5732857"/>
            <a:ext cx="10590790" cy="1032480"/>
          </a:xfrm>
        </p:spPr>
        <p:txBody>
          <a:bodyPr anchor="t"/>
          <a:lstStyle>
            <a:lvl1pPr marL="0" indent="0" algn="l">
              <a:buNone/>
              <a:defRPr sz="2400" cap="all">
                <a:solidFill>
                  <a:schemeClr val="accent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11/15/2024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39033846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323975" y="2472690"/>
            <a:ext cx="5275607" cy="5034916"/>
          </a:xfrm>
        </p:spPr>
        <p:txBody>
          <a:bodyPr>
            <a:normAutofit/>
          </a:bodyPr>
          <a:lstStyle>
            <a:lvl1pPr>
              <a:defRPr sz="2160"/>
            </a:lvl1pPr>
            <a:lvl2pPr>
              <a:defRPr sz="1920"/>
            </a:lvl2pPr>
            <a:lvl3pPr>
              <a:defRPr sz="168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785392" y="2467311"/>
            <a:ext cx="5275609" cy="5040294"/>
          </a:xfrm>
        </p:spPr>
        <p:txBody>
          <a:bodyPr>
            <a:normAutofit/>
          </a:bodyPr>
          <a:lstStyle>
            <a:lvl1pPr>
              <a:defRPr sz="2160"/>
            </a:lvl1pPr>
            <a:lvl2pPr>
              <a:defRPr sz="1920"/>
            </a:lvl2pPr>
            <a:lvl3pPr>
              <a:defRPr sz="168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11/15/2024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6116721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3975" y="2286000"/>
            <a:ext cx="5275606" cy="691514"/>
          </a:xfrm>
        </p:spPr>
        <p:txBody>
          <a:bodyPr anchor="b">
            <a:noAutofit/>
          </a:bodyPr>
          <a:lstStyle>
            <a:lvl1pPr marL="0" indent="0">
              <a:buNone/>
              <a:defRPr sz="2880" b="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323975" y="3017520"/>
            <a:ext cx="5275607" cy="4490086"/>
          </a:xfrm>
        </p:spPr>
        <p:txBody>
          <a:bodyPr>
            <a:normAutofit/>
          </a:bodyPr>
          <a:lstStyle>
            <a:lvl1pPr>
              <a:defRPr sz="2160"/>
            </a:lvl1pPr>
            <a:lvl2pPr>
              <a:defRPr sz="1920"/>
            </a:lvl2pPr>
            <a:lvl3pPr>
              <a:defRPr sz="168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785395" y="2286000"/>
            <a:ext cx="5275607" cy="691514"/>
          </a:xfrm>
        </p:spPr>
        <p:txBody>
          <a:bodyPr anchor="b">
            <a:noAutofit/>
          </a:bodyPr>
          <a:lstStyle>
            <a:lvl1pPr marL="0" indent="0">
              <a:buNone/>
              <a:defRPr sz="2880" b="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6785395" y="3017520"/>
            <a:ext cx="5275607" cy="4490086"/>
          </a:xfrm>
        </p:spPr>
        <p:txBody>
          <a:bodyPr>
            <a:normAutofit/>
          </a:bodyPr>
          <a:lstStyle>
            <a:lvl1pPr>
              <a:defRPr sz="2160"/>
            </a:lvl1pPr>
            <a:lvl2pPr>
              <a:defRPr sz="1920"/>
            </a:lvl2pPr>
            <a:lvl3pPr>
              <a:defRPr sz="168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11/15/2024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16696916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smtClean="0"/>
              <a:t>11/15/2024</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93900086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smtClean="0"/>
              <a:t>11/15/2024</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76823078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85945" y="1737360"/>
            <a:ext cx="4081277" cy="1737360"/>
          </a:xfrm>
        </p:spPr>
        <p:txBody>
          <a:bodyPr anchor="b"/>
          <a:lstStyle>
            <a:lvl1pPr algn="l">
              <a:defRPr sz="2880" b="0"/>
            </a:lvl1pPr>
          </a:lstStyle>
          <a:p>
            <a:r>
              <a:rPr lang="en-US"/>
              <a:t>Click to edit Master title style</a:t>
            </a:r>
            <a:endParaRPr lang="en-US" dirty="0"/>
          </a:p>
        </p:txBody>
      </p:sp>
      <p:sp>
        <p:nvSpPr>
          <p:cNvPr id="3" name="Content Placeholder 2"/>
          <p:cNvSpPr>
            <a:spLocks noGrp="1"/>
          </p:cNvSpPr>
          <p:nvPr>
            <p:ph idx="1"/>
          </p:nvPr>
        </p:nvSpPr>
        <p:spPr>
          <a:xfrm>
            <a:off x="5741540" y="1737360"/>
            <a:ext cx="6235196" cy="5486400"/>
          </a:xfrm>
        </p:spPr>
        <p:txBody>
          <a:bodyPr anchor="ctr">
            <a:normAutofit/>
          </a:bodyPr>
          <a:lstStyle>
            <a:lvl1pPr>
              <a:defRPr sz="2400"/>
            </a:lvl1pPr>
            <a:lvl2pPr>
              <a:defRPr sz="2160"/>
            </a:lvl2pPr>
            <a:lvl3pPr>
              <a:defRPr sz="1920"/>
            </a:lvl3pPr>
            <a:lvl4pPr>
              <a:defRPr sz="1680"/>
            </a:lvl4pPr>
            <a:lvl5pPr>
              <a:defRPr sz="1680"/>
            </a:lvl5pPr>
            <a:lvl6pPr>
              <a:defRPr sz="1680"/>
            </a:lvl6pPr>
            <a:lvl7pPr>
              <a:defRPr sz="1680"/>
            </a:lvl7pPr>
            <a:lvl8pPr>
              <a:defRPr sz="1680"/>
            </a:lvl8pPr>
            <a:lvl9pPr>
              <a:defRPr sz="16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385945" y="3755137"/>
            <a:ext cx="4081276" cy="3474719"/>
          </a:xfrm>
        </p:spPr>
        <p:txBody>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smtClean="0"/>
              <a:t>11/15/2024</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2190589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84689" y="2225030"/>
            <a:ext cx="6111487" cy="1889770"/>
          </a:xfrm>
        </p:spPr>
        <p:txBody>
          <a:bodyPr anchor="b">
            <a:normAutofit/>
          </a:bodyPr>
          <a:lstStyle>
            <a:lvl1pPr algn="l">
              <a:defRPr sz="432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39455" y="1371600"/>
            <a:ext cx="3840480" cy="548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1385945" y="4389120"/>
            <a:ext cx="6101975" cy="1645920"/>
          </a:xfrm>
        </p:spPr>
        <p:txBody>
          <a:bodyPr>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11/15/2024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90328200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85948" y="5760704"/>
            <a:ext cx="10590788" cy="680086"/>
          </a:xfrm>
        </p:spPr>
        <p:txBody>
          <a:bodyPr anchor="b">
            <a:normAutofit/>
          </a:bodyPr>
          <a:lstStyle>
            <a:lvl1pPr algn="l">
              <a:defRPr sz="288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85946" y="822960"/>
            <a:ext cx="10590790" cy="4368799"/>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1385947" y="6440790"/>
            <a:ext cx="10590787" cy="592454"/>
          </a:xfrm>
        </p:spPr>
        <p:txBody>
          <a:bodyPr>
            <a:normAutofit/>
          </a:bodyPr>
          <a:lstStyle>
            <a:lvl1pPr marL="0" indent="0">
              <a:buNone/>
              <a:defRPr sz="144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11/15/2024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6449908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85945" y="1737360"/>
            <a:ext cx="10590791" cy="2377440"/>
          </a:xfrm>
        </p:spPr>
        <p:txBody>
          <a:bodyPr/>
          <a:lstStyle>
            <a:lvl1pPr>
              <a:defRPr sz="5760"/>
            </a:lvl1pPr>
          </a:lstStyle>
          <a:p>
            <a:r>
              <a:rPr lang="en-US"/>
              <a:t>Click to edit Master title style</a:t>
            </a:r>
            <a:endParaRPr lang="en-US" dirty="0"/>
          </a:p>
        </p:txBody>
      </p:sp>
      <p:sp>
        <p:nvSpPr>
          <p:cNvPr id="8" name="Text Placeholder 3"/>
          <p:cNvSpPr>
            <a:spLocks noGrp="1"/>
          </p:cNvSpPr>
          <p:nvPr>
            <p:ph type="body" sz="half" idx="2"/>
          </p:nvPr>
        </p:nvSpPr>
        <p:spPr>
          <a:xfrm>
            <a:off x="1385945" y="4389120"/>
            <a:ext cx="10590791" cy="2834640"/>
          </a:xfrm>
        </p:spPr>
        <p:txBody>
          <a:bodyPr anchor="ctr">
            <a:normAutofit/>
          </a:bodyPr>
          <a:lstStyle>
            <a:lvl1pPr marL="0" indent="0">
              <a:buNone/>
              <a:defRPr sz="216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11/15/2024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04025691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89762" y="1737360"/>
            <a:ext cx="9599178" cy="2788049"/>
          </a:xfrm>
        </p:spPr>
        <p:txBody>
          <a:bodyPr/>
          <a:lstStyle>
            <a:lvl1pPr>
              <a:defRPr sz="5760"/>
            </a:lvl1pPr>
          </a:lstStyle>
          <a:p>
            <a:r>
              <a:rPr lang="en-US"/>
              <a:t>Click to edit Master title style</a:t>
            </a:r>
            <a:endParaRPr lang="en-US" dirty="0"/>
          </a:p>
        </p:txBody>
      </p:sp>
      <p:sp>
        <p:nvSpPr>
          <p:cNvPr id="14" name="Text Placeholder 3"/>
          <p:cNvSpPr>
            <a:spLocks noGrp="1"/>
          </p:cNvSpPr>
          <p:nvPr>
            <p:ph type="body" sz="half" idx="13"/>
          </p:nvPr>
        </p:nvSpPr>
        <p:spPr>
          <a:xfrm>
            <a:off x="2316480" y="4525409"/>
            <a:ext cx="8862994" cy="410609"/>
          </a:xfrm>
        </p:spPr>
        <p:txBody>
          <a:bodyPr anchor="t">
            <a:normAutofit/>
          </a:bodyPr>
          <a:lstStyle>
            <a:lvl1pPr marL="0" indent="0">
              <a:buNone/>
              <a:defRPr lang="en-US" sz="1680" b="0" i="0" kern="1200" cap="small" dirty="0">
                <a:solidFill>
                  <a:schemeClr val="accent1"/>
                </a:solidFill>
                <a:latin typeface="+mj-lt"/>
                <a:ea typeface="+mj-ea"/>
                <a:cs typeface="+mj-cs"/>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10" name="Text Placeholder 3"/>
          <p:cNvSpPr>
            <a:spLocks noGrp="1"/>
          </p:cNvSpPr>
          <p:nvPr>
            <p:ph type="body" sz="half" idx="2"/>
          </p:nvPr>
        </p:nvSpPr>
        <p:spPr>
          <a:xfrm>
            <a:off x="1385945" y="5220788"/>
            <a:ext cx="10590791" cy="2011680"/>
          </a:xfrm>
        </p:spPr>
        <p:txBody>
          <a:bodyPr anchor="ctr">
            <a:normAutofit/>
          </a:bodyPr>
          <a:lstStyle>
            <a:lvl1pPr marL="0" indent="0">
              <a:buNone/>
              <a:defRPr sz="216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11/15/2024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11" name="TextBox 10"/>
          <p:cNvSpPr txBox="1"/>
          <p:nvPr/>
        </p:nvSpPr>
        <p:spPr>
          <a:xfrm>
            <a:off x="1077954" y="1165504"/>
            <a:ext cx="962294" cy="2345257"/>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sz="14640" dirty="0"/>
              <a:t>“</a:t>
            </a:r>
          </a:p>
        </p:txBody>
      </p:sp>
      <p:sp>
        <p:nvSpPr>
          <p:cNvPr id="13" name="TextBox 12"/>
          <p:cNvSpPr txBox="1"/>
          <p:nvPr/>
        </p:nvSpPr>
        <p:spPr>
          <a:xfrm>
            <a:off x="11196588" y="3136545"/>
            <a:ext cx="962294" cy="2345257"/>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sz="14640" dirty="0"/>
              <a:t>”</a:t>
            </a:r>
          </a:p>
        </p:txBody>
      </p:sp>
    </p:spTree>
    <p:extLst>
      <p:ext uri="{BB962C8B-B14F-4D97-AF65-F5344CB8AC3E}">
        <p14:creationId xmlns:p14="http://schemas.microsoft.com/office/powerpoint/2010/main" val="8441183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385945" y="3749041"/>
            <a:ext cx="10590791" cy="1983816"/>
          </a:xfrm>
        </p:spPr>
        <p:txBody>
          <a:bodyPr anchor="b"/>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385946" y="5732857"/>
            <a:ext cx="10590790" cy="1032480"/>
          </a:xfrm>
        </p:spPr>
        <p:txBody>
          <a:bodyPr anchor="t"/>
          <a:lstStyle>
            <a:lvl1pPr marL="0" indent="0" algn="l">
              <a:buNone/>
              <a:defRPr sz="2400" cap="none">
                <a:solidFill>
                  <a:schemeClr val="accent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11/15/2024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82646545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5040"/>
            </a:lvl1pPr>
          </a:lstStyle>
          <a:p>
            <a:r>
              <a:rPr lang="en-US"/>
              <a:t>Click to edit Master title style</a:t>
            </a:r>
            <a:endParaRPr lang="en-US" dirty="0"/>
          </a:p>
        </p:txBody>
      </p:sp>
      <p:sp>
        <p:nvSpPr>
          <p:cNvPr id="3" name="Text Placeholder 2"/>
          <p:cNvSpPr>
            <a:spLocks noGrp="1"/>
          </p:cNvSpPr>
          <p:nvPr>
            <p:ph type="body" idx="1"/>
          </p:nvPr>
        </p:nvSpPr>
        <p:spPr>
          <a:xfrm>
            <a:off x="759537" y="2377440"/>
            <a:ext cx="3536239" cy="691514"/>
          </a:xfrm>
        </p:spPr>
        <p:txBody>
          <a:bodyPr anchor="b">
            <a:noAutofit/>
          </a:bodyPr>
          <a:lstStyle>
            <a:lvl1pPr marL="0" indent="0">
              <a:buNone/>
              <a:defRPr sz="2880" b="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6" name="Text Placeholder 3"/>
          <p:cNvSpPr>
            <a:spLocks noGrp="1"/>
          </p:cNvSpPr>
          <p:nvPr>
            <p:ph type="body" sz="half" idx="15"/>
          </p:nvPr>
        </p:nvSpPr>
        <p:spPr>
          <a:xfrm>
            <a:off x="782956" y="3200400"/>
            <a:ext cx="3512820" cy="4307206"/>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Text Placeholder 4"/>
          <p:cNvSpPr>
            <a:spLocks noGrp="1"/>
          </p:cNvSpPr>
          <p:nvPr>
            <p:ph type="body" sz="quarter" idx="3"/>
          </p:nvPr>
        </p:nvSpPr>
        <p:spPr>
          <a:xfrm>
            <a:off x="4660392" y="2377440"/>
            <a:ext cx="3523489" cy="691514"/>
          </a:xfrm>
        </p:spPr>
        <p:txBody>
          <a:bodyPr anchor="b">
            <a:noAutofit/>
          </a:bodyPr>
          <a:lstStyle>
            <a:lvl1pPr marL="0" indent="0">
              <a:buNone/>
              <a:defRPr sz="2880" b="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9" name="Text Placeholder 3"/>
          <p:cNvSpPr>
            <a:spLocks noGrp="1"/>
          </p:cNvSpPr>
          <p:nvPr>
            <p:ph type="body" sz="half" idx="16"/>
          </p:nvPr>
        </p:nvSpPr>
        <p:spPr>
          <a:xfrm>
            <a:off x="4647727" y="3200400"/>
            <a:ext cx="3536153" cy="4307206"/>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14" name="Text Placeholder 4"/>
          <p:cNvSpPr>
            <a:spLocks noGrp="1"/>
          </p:cNvSpPr>
          <p:nvPr>
            <p:ph type="body" sz="quarter" idx="13"/>
          </p:nvPr>
        </p:nvSpPr>
        <p:spPr>
          <a:xfrm>
            <a:off x="8549640" y="2377440"/>
            <a:ext cx="3518536" cy="691514"/>
          </a:xfrm>
        </p:spPr>
        <p:txBody>
          <a:bodyPr anchor="b">
            <a:noAutofit/>
          </a:bodyPr>
          <a:lstStyle>
            <a:lvl1pPr marL="0" indent="0">
              <a:buNone/>
              <a:defRPr sz="2880" b="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0" name="Text Placeholder 3"/>
          <p:cNvSpPr>
            <a:spLocks noGrp="1"/>
          </p:cNvSpPr>
          <p:nvPr>
            <p:ph type="body" sz="half" idx="17"/>
          </p:nvPr>
        </p:nvSpPr>
        <p:spPr>
          <a:xfrm>
            <a:off x="8549640" y="3200400"/>
            <a:ext cx="3518536" cy="4307206"/>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cxnSp>
        <p:nvCxnSpPr>
          <p:cNvPr id="17" name="Straight Connector 16"/>
          <p:cNvCxnSpPr/>
          <p:nvPr/>
        </p:nvCxnSpPr>
        <p:spPr>
          <a:xfrm>
            <a:off x="4471370" y="2560320"/>
            <a:ext cx="0" cy="475488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8354672" y="2560320"/>
            <a:ext cx="0" cy="476025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smtClean="0"/>
              <a:t>11/15/2024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95403686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5040"/>
            </a:lvl1pPr>
          </a:lstStyle>
          <a:p>
            <a:r>
              <a:rPr lang="en-US"/>
              <a:t>Click to edit Master title style</a:t>
            </a:r>
            <a:endParaRPr lang="en-US" dirty="0"/>
          </a:p>
        </p:txBody>
      </p:sp>
      <p:sp>
        <p:nvSpPr>
          <p:cNvPr id="3" name="Text Placeholder 2"/>
          <p:cNvSpPr>
            <a:spLocks noGrp="1"/>
          </p:cNvSpPr>
          <p:nvPr>
            <p:ph type="body" idx="1"/>
          </p:nvPr>
        </p:nvSpPr>
        <p:spPr>
          <a:xfrm>
            <a:off x="782956" y="5101139"/>
            <a:ext cx="3528060" cy="691514"/>
          </a:xfrm>
        </p:spPr>
        <p:txBody>
          <a:bodyPr anchor="b">
            <a:noAutofit/>
          </a:bodyPr>
          <a:lstStyle>
            <a:lvl1pPr marL="0" indent="0">
              <a:buNone/>
              <a:defRPr sz="2880" b="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9" name="Picture Placeholder 2"/>
          <p:cNvSpPr>
            <a:spLocks noGrp="1" noChangeAspect="1"/>
          </p:cNvSpPr>
          <p:nvPr>
            <p:ph type="pic" idx="15"/>
          </p:nvPr>
        </p:nvSpPr>
        <p:spPr>
          <a:xfrm>
            <a:off x="782956" y="2651760"/>
            <a:ext cx="3528060" cy="18288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2" name="Text Placeholder 3"/>
          <p:cNvSpPr>
            <a:spLocks noGrp="1"/>
          </p:cNvSpPr>
          <p:nvPr>
            <p:ph type="body" sz="half" idx="18"/>
          </p:nvPr>
        </p:nvSpPr>
        <p:spPr>
          <a:xfrm>
            <a:off x="782956" y="5792654"/>
            <a:ext cx="3528060" cy="791027"/>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Text Placeholder 4"/>
          <p:cNvSpPr>
            <a:spLocks noGrp="1"/>
          </p:cNvSpPr>
          <p:nvPr>
            <p:ph type="body" sz="quarter" idx="3"/>
          </p:nvPr>
        </p:nvSpPr>
        <p:spPr>
          <a:xfrm>
            <a:off x="4667251" y="5101139"/>
            <a:ext cx="3516630" cy="691514"/>
          </a:xfrm>
        </p:spPr>
        <p:txBody>
          <a:bodyPr anchor="b">
            <a:noAutofit/>
          </a:bodyPr>
          <a:lstStyle>
            <a:lvl1pPr marL="0" indent="0">
              <a:buNone/>
              <a:defRPr sz="2880" b="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30" name="Picture Placeholder 2"/>
          <p:cNvSpPr>
            <a:spLocks noGrp="1" noChangeAspect="1"/>
          </p:cNvSpPr>
          <p:nvPr>
            <p:ph type="pic" idx="21"/>
          </p:nvPr>
        </p:nvSpPr>
        <p:spPr>
          <a:xfrm>
            <a:off x="4667249" y="2651760"/>
            <a:ext cx="3516630" cy="18288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3" name="Text Placeholder 3"/>
          <p:cNvSpPr>
            <a:spLocks noGrp="1"/>
          </p:cNvSpPr>
          <p:nvPr>
            <p:ph type="body" sz="half" idx="19"/>
          </p:nvPr>
        </p:nvSpPr>
        <p:spPr>
          <a:xfrm>
            <a:off x="4665627" y="5792653"/>
            <a:ext cx="3521287" cy="791027"/>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14" name="Text Placeholder 4"/>
          <p:cNvSpPr>
            <a:spLocks noGrp="1"/>
          </p:cNvSpPr>
          <p:nvPr>
            <p:ph type="body" sz="quarter" idx="13"/>
          </p:nvPr>
        </p:nvSpPr>
        <p:spPr>
          <a:xfrm>
            <a:off x="8549640" y="5101139"/>
            <a:ext cx="3518536" cy="691514"/>
          </a:xfrm>
        </p:spPr>
        <p:txBody>
          <a:bodyPr anchor="b">
            <a:noAutofit/>
          </a:bodyPr>
          <a:lstStyle>
            <a:lvl1pPr marL="0" indent="0">
              <a:buNone/>
              <a:defRPr sz="2880" b="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31" name="Picture Placeholder 2"/>
          <p:cNvSpPr>
            <a:spLocks noGrp="1" noChangeAspect="1"/>
          </p:cNvSpPr>
          <p:nvPr>
            <p:ph type="pic" idx="22"/>
          </p:nvPr>
        </p:nvSpPr>
        <p:spPr>
          <a:xfrm>
            <a:off x="8549639" y="2651760"/>
            <a:ext cx="3518536" cy="18288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4" name="Text Placeholder 3"/>
          <p:cNvSpPr>
            <a:spLocks noGrp="1"/>
          </p:cNvSpPr>
          <p:nvPr>
            <p:ph type="body" sz="half" idx="20"/>
          </p:nvPr>
        </p:nvSpPr>
        <p:spPr>
          <a:xfrm>
            <a:off x="8549491" y="5792650"/>
            <a:ext cx="3523196" cy="791027"/>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cxnSp>
        <p:nvCxnSpPr>
          <p:cNvPr id="17" name="Straight Connector 16"/>
          <p:cNvCxnSpPr/>
          <p:nvPr/>
        </p:nvCxnSpPr>
        <p:spPr>
          <a:xfrm>
            <a:off x="4471370" y="2560320"/>
            <a:ext cx="0" cy="475488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8354672" y="2560320"/>
            <a:ext cx="0" cy="476025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smtClean="0"/>
              <a:t>11/15/2024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94419156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317777429"/>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965055" y="516256"/>
            <a:ext cx="2103121" cy="699135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782956" y="1064897"/>
            <a:ext cx="8907779" cy="644270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383841971"/>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46546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2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19590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3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35971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4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14808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5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12870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6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13692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7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95307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lide 8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86061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Slide 9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9940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Slide 10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839313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Slide 11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08915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Slide 12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90548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Slide 13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37598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Slide 14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15068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4.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33">
            <a:extLst>
              <a:ext uri="{28A0092B-C50C-407E-A947-70E740481C1C}">
                <a14:useLocalDpi xmlns:a14="http://schemas.microsoft.com/office/drawing/2010/main" val="0"/>
              </a:ext>
            </a:extLst>
          </a:blip>
          <a:srcRect l="3613"/>
          <a:stretch/>
        </p:blipFill>
        <p:spPr>
          <a:xfrm>
            <a:off x="0" y="3203623"/>
            <a:ext cx="4844414" cy="5025978"/>
          </a:xfrm>
          <a:prstGeom prst="rect">
            <a:avLst/>
          </a:prstGeom>
        </p:spPr>
      </p:pic>
      <p:pic>
        <p:nvPicPr>
          <p:cNvPr id="7" name="Picture 6"/>
          <p:cNvPicPr>
            <a:picLocks noChangeAspect="1"/>
          </p:cNvPicPr>
          <p:nvPr/>
        </p:nvPicPr>
        <p:blipFill rotWithShape="1">
          <a:blip r:embed="rId34">
            <a:extLst>
              <a:ext uri="{28A0092B-C50C-407E-A947-70E740481C1C}">
                <a14:useLocalDpi xmlns:a14="http://schemas.microsoft.com/office/drawing/2010/main" val="0"/>
              </a:ext>
            </a:extLst>
          </a:blip>
          <a:srcRect l="35640"/>
          <a:stretch/>
        </p:blipFill>
        <p:spPr>
          <a:xfrm>
            <a:off x="0" y="3470817"/>
            <a:ext cx="1826894" cy="2838544"/>
          </a:xfrm>
          <a:prstGeom prst="rect">
            <a:avLst/>
          </a:prstGeom>
        </p:spPr>
      </p:pic>
      <p:sp>
        <p:nvSpPr>
          <p:cNvPr id="16" name="Oval 15"/>
          <p:cNvSpPr/>
          <p:nvPr/>
        </p:nvSpPr>
        <p:spPr>
          <a:xfrm>
            <a:off x="10330814" y="2011680"/>
            <a:ext cx="3383280" cy="338328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35">
            <a:extLst>
              <a:ext uri="{28A0092B-C50C-407E-A947-70E740481C1C}">
                <a14:useLocalDpi xmlns:a14="http://schemas.microsoft.com/office/drawing/2010/main" val="0"/>
              </a:ext>
            </a:extLst>
          </a:blip>
          <a:srcRect t="28713"/>
          <a:stretch/>
        </p:blipFill>
        <p:spPr>
          <a:xfrm>
            <a:off x="9600237" y="0"/>
            <a:ext cx="1924064" cy="1371600"/>
          </a:xfrm>
          <a:prstGeom prst="rect">
            <a:avLst/>
          </a:prstGeom>
        </p:spPr>
      </p:pic>
      <p:pic>
        <p:nvPicPr>
          <p:cNvPr id="10" name="Picture 9"/>
          <p:cNvPicPr>
            <a:picLocks noChangeAspect="1"/>
          </p:cNvPicPr>
          <p:nvPr/>
        </p:nvPicPr>
        <p:blipFill rotWithShape="1">
          <a:blip r:embed="rId36">
            <a:extLst>
              <a:ext uri="{28A0092B-C50C-407E-A947-70E740481C1C}">
                <a14:useLocalDpi xmlns:a14="http://schemas.microsoft.com/office/drawing/2010/main" val="0"/>
              </a:ext>
            </a:extLst>
          </a:blip>
          <a:srcRect b="24199"/>
          <a:stretch/>
        </p:blipFill>
        <p:spPr>
          <a:xfrm>
            <a:off x="10330814" y="7311439"/>
            <a:ext cx="1192481" cy="918161"/>
          </a:xfrm>
          <a:prstGeom prst="rect">
            <a:avLst/>
          </a:prstGeom>
        </p:spPr>
      </p:pic>
      <p:sp>
        <p:nvSpPr>
          <p:cNvPr id="14" name="Rectangle 13"/>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775334" y="543262"/>
            <a:ext cx="11285668" cy="1680636"/>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323975" y="2463502"/>
            <a:ext cx="10735849" cy="503457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2186767" y="2148842"/>
            <a:ext cx="1188719" cy="365759"/>
          </a:xfrm>
          <a:prstGeom prst="rect">
            <a:avLst/>
          </a:prstGeom>
        </p:spPr>
        <p:txBody>
          <a:bodyPr vert="horz" lIns="91440" tIns="45720" rIns="91440" bIns="45720" rtlCol="0" anchor="t"/>
          <a:lstStyle>
            <a:lvl1pPr algn="l">
              <a:defRPr sz="1320" b="0" i="0">
                <a:solidFill>
                  <a:schemeClr val="tx1">
                    <a:tint val="75000"/>
                    <a:alpha val="60000"/>
                  </a:schemeClr>
                </a:solidFill>
              </a:defRPr>
            </a:lvl1pPr>
          </a:lstStyle>
          <a:p>
            <a:fld id="{4AAD347D-5ACD-4C99-B74B-A9C85AD731AF}" type="datetimeFigureOut">
              <a:rPr lang="en-US" smtClean="0"/>
              <a:t>11/15/2024</a:t>
            </a:fld>
            <a:endParaRPr lang="en-US" dirty="0"/>
          </a:p>
        </p:txBody>
      </p:sp>
      <p:sp>
        <p:nvSpPr>
          <p:cNvPr id="5" name="Footer Placeholder 4"/>
          <p:cNvSpPr>
            <a:spLocks noGrp="1"/>
          </p:cNvSpPr>
          <p:nvPr>
            <p:ph type="ftr" sz="quarter" idx="3"/>
          </p:nvPr>
        </p:nvSpPr>
        <p:spPr>
          <a:xfrm rot="5400000">
            <a:off x="10741888" y="3870357"/>
            <a:ext cx="4631754" cy="365761"/>
          </a:xfrm>
          <a:prstGeom prst="rect">
            <a:avLst/>
          </a:prstGeom>
        </p:spPr>
        <p:txBody>
          <a:bodyPr vert="horz" lIns="91440" tIns="45720" rIns="91440" bIns="45720" rtlCol="0" anchor="b"/>
          <a:lstStyle>
            <a:lvl1pPr algn="l">
              <a:defRPr sz="132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2423049" y="354876"/>
            <a:ext cx="1005839" cy="921224"/>
          </a:xfrm>
          <a:prstGeom prst="rect">
            <a:avLst/>
          </a:prstGeom>
        </p:spPr>
        <p:txBody>
          <a:bodyPr vert="horz" lIns="91440" tIns="45720" rIns="91440" bIns="45720" rtlCol="0" anchor="b"/>
          <a:lstStyle>
            <a:lvl1pPr algn="ctr">
              <a:defRPr sz="3360" b="0" i="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474471841"/>
      </p:ext>
    </p:extLst>
  </p:cSld>
  <p:clrMap bg1="dk1" tx1="lt1" bg2="dk2" tx2="lt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3" r:id="rId25"/>
    <p:sldLayoutId id="2147483754" r:id="rId26"/>
    <p:sldLayoutId id="2147483755" r:id="rId27"/>
    <p:sldLayoutId id="2147483756" r:id="rId28"/>
    <p:sldLayoutId id="2147483757" r:id="rId29"/>
    <p:sldLayoutId id="2147483758" r:id="rId30"/>
    <p:sldLayoutId id="2147483759" r:id="rId31"/>
  </p:sldLayoutIdLst>
  <p:hf sldNum="0" hdr="0" ftr="0" dt="0"/>
  <p:txStyles>
    <p:titleStyle>
      <a:lvl1pPr algn="l" defTabSz="548640" rtl="0" eaLnBrk="1" latinLnBrk="0" hangingPunct="1">
        <a:spcBef>
          <a:spcPct val="0"/>
        </a:spcBef>
        <a:buNone/>
        <a:defRPr sz="504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11480" indent="-411480" algn="l" defTabSz="548640" rtl="0" eaLnBrk="1" latinLnBrk="0" hangingPunct="1">
        <a:spcBef>
          <a:spcPts val="1200"/>
        </a:spcBef>
        <a:spcAft>
          <a:spcPts val="0"/>
        </a:spcAft>
        <a:buClr>
          <a:schemeClr val="accent1"/>
        </a:buClr>
        <a:buSzPct val="80000"/>
        <a:buFont typeface="Wingdings 3" charset="2"/>
        <a:buChar char=""/>
        <a:defRPr sz="2400" b="0" i="0" kern="1200">
          <a:solidFill>
            <a:schemeClr val="tx1"/>
          </a:solidFill>
          <a:latin typeface="+mj-lt"/>
          <a:ea typeface="+mj-ea"/>
          <a:cs typeface="+mj-cs"/>
        </a:defRPr>
      </a:lvl1pPr>
      <a:lvl2pPr marL="891540" indent="-342900" algn="l" defTabSz="548640" rtl="0" eaLnBrk="1" latinLnBrk="0" hangingPunct="1">
        <a:spcBef>
          <a:spcPts val="1200"/>
        </a:spcBef>
        <a:spcAft>
          <a:spcPts val="0"/>
        </a:spcAft>
        <a:buClr>
          <a:schemeClr val="accent1"/>
        </a:buClr>
        <a:buSzPct val="80000"/>
        <a:buFont typeface="Wingdings 3" charset="2"/>
        <a:buChar char=""/>
        <a:defRPr sz="2160" b="0" i="0" kern="1200">
          <a:solidFill>
            <a:schemeClr val="tx1"/>
          </a:solidFill>
          <a:latin typeface="+mj-lt"/>
          <a:ea typeface="+mj-ea"/>
          <a:cs typeface="+mj-cs"/>
        </a:defRPr>
      </a:lvl2pPr>
      <a:lvl3pPr marL="1371600" indent="-274320" algn="l" defTabSz="548640" rtl="0" eaLnBrk="1" latinLnBrk="0" hangingPunct="1">
        <a:spcBef>
          <a:spcPts val="1200"/>
        </a:spcBef>
        <a:spcAft>
          <a:spcPts val="0"/>
        </a:spcAft>
        <a:buClr>
          <a:schemeClr val="accent1"/>
        </a:buClr>
        <a:buSzPct val="80000"/>
        <a:buFont typeface="Wingdings 3" charset="2"/>
        <a:buChar char=""/>
        <a:defRPr sz="1920" b="0" i="0" kern="1200">
          <a:solidFill>
            <a:schemeClr val="tx1"/>
          </a:solidFill>
          <a:latin typeface="+mj-lt"/>
          <a:ea typeface="+mj-ea"/>
          <a:cs typeface="+mj-cs"/>
        </a:defRPr>
      </a:lvl3pPr>
      <a:lvl4pPr marL="1920240" indent="-274320" algn="l" defTabSz="548640" rtl="0" eaLnBrk="1" latinLnBrk="0" hangingPunct="1">
        <a:spcBef>
          <a:spcPts val="1200"/>
        </a:spcBef>
        <a:spcAft>
          <a:spcPts val="0"/>
        </a:spcAft>
        <a:buClr>
          <a:schemeClr val="accent1"/>
        </a:buClr>
        <a:buSzPct val="80000"/>
        <a:buFont typeface="Wingdings 3" charset="2"/>
        <a:buChar char=""/>
        <a:defRPr sz="1680" b="0" i="0" kern="1200">
          <a:solidFill>
            <a:schemeClr val="tx1"/>
          </a:solidFill>
          <a:latin typeface="+mj-lt"/>
          <a:ea typeface="+mj-ea"/>
          <a:cs typeface="+mj-cs"/>
        </a:defRPr>
      </a:lvl4pPr>
      <a:lvl5pPr marL="2468880" indent="-274320" algn="l" defTabSz="548640" rtl="0" eaLnBrk="1" latinLnBrk="0" hangingPunct="1">
        <a:spcBef>
          <a:spcPts val="1200"/>
        </a:spcBef>
        <a:spcAft>
          <a:spcPts val="0"/>
        </a:spcAft>
        <a:buClr>
          <a:schemeClr val="accent1"/>
        </a:buClr>
        <a:buSzPct val="80000"/>
        <a:buFont typeface="Wingdings 3" charset="2"/>
        <a:buChar char=""/>
        <a:defRPr sz="1680" b="0" i="0" kern="1200">
          <a:solidFill>
            <a:schemeClr val="tx1"/>
          </a:solidFill>
          <a:latin typeface="+mj-lt"/>
          <a:ea typeface="+mj-ea"/>
          <a:cs typeface="+mj-cs"/>
        </a:defRPr>
      </a:lvl5pPr>
      <a:lvl6pPr marL="3017520" indent="-274320" algn="l" defTabSz="548640" rtl="0" eaLnBrk="1" latinLnBrk="0" hangingPunct="1">
        <a:spcBef>
          <a:spcPts val="1200"/>
        </a:spcBef>
        <a:spcAft>
          <a:spcPts val="0"/>
        </a:spcAft>
        <a:buClr>
          <a:schemeClr val="accent1"/>
        </a:buClr>
        <a:buSzPct val="80000"/>
        <a:buFont typeface="Wingdings 3" charset="2"/>
        <a:buChar char=""/>
        <a:defRPr sz="1680" b="0" i="0" kern="1200">
          <a:solidFill>
            <a:schemeClr val="tx1"/>
          </a:solidFill>
          <a:latin typeface="+mj-lt"/>
          <a:ea typeface="+mj-ea"/>
          <a:cs typeface="+mj-cs"/>
        </a:defRPr>
      </a:lvl6pPr>
      <a:lvl7pPr marL="3566160" indent="-274320" algn="l" defTabSz="548640" rtl="0" eaLnBrk="1" latinLnBrk="0" hangingPunct="1">
        <a:spcBef>
          <a:spcPts val="1200"/>
        </a:spcBef>
        <a:spcAft>
          <a:spcPts val="0"/>
        </a:spcAft>
        <a:buClr>
          <a:schemeClr val="accent1"/>
        </a:buClr>
        <a:buSzPct val="80000"/>
        <a:buFont typeface="Wingdings 3" charset="2"/>
        <a:buChar char=""/>
        <a:defRPr sz="1680" b="0" i="0" kern="1200">
          <a:solidFill>
            <a:schemeClr val="tx1"/>
          </a:solidFill>
          <a:latin typeface="+mj-lt"/>
          <a:ea typeface="+mj-ea"/>
          <a:cs typeface="+mj-cs"/>
        </a:defRPr>
      </a:lvl7pPr>
      <a:lvl8pPr marL="4114800" indent="-274320" algn="l" defTabSz="548640" rtl="0" eaLnBrk="1" latinLnBrk="0" hangingPunct="1">
        <a:spcBef>
          <a:spcPts val="1200"/>
        </a:spcBef>
        <a:spcAft>
          <a:spcPts val="0"/>
        </a:spcAft>
        <a:buClr>
          <a:schemeClr val="accent1"/>
        </a:buClr>
        <a:buSzPct val="80000"/>
        <a:buFont typeface="Wingdings 3" charset="2"/>
        <a:buChar char=""/>
        <a:defRPr sz="1680" b="0" i="0" kern="1200">
          <a:solidFill>
            <a:schemeClr val="tx1"/>
          </a:solidFill>
          <a:latin typeface="+mj-lt"/>
          <a:ea typeface="+mj-ea"/>
          <a:cs typeface="+mj-cs"/>
        </a:defRPr>
      </a:lvl8pPr>
      <a:lvl9pPr marL="4663440" indent="-274320" algn="l" defTabSz="548640" rtl="0" eaLnBrk="1" latinLnBrk="0" hangingPunct="1">
        <a:spcBef>
          <a:spcPts val="1200"/>
        </a:spcBef>
        <a:spcAft>
          <a:spcPts val="0"/>
        </a:spcAft>
        <a:buClr>
          <a:schemeClr val="accent1"/>
        </a:buClr>
        <a:buSzPct val="80000"/>
        <a:buFont typeface="Wingdings 3" charset="2"/>
        <a:buChar char=""/>
        <a:defRPr sz="1680" b="0" i="0" kern="1200">
          <a:solidFill>
            <a:schemeClr val="tx1"/>
          </a:solidFill>
          <a:latin typeface="+mj-lt"/>
          <a:ea typeface="+mj-ea"/>
          <a:cs typeface="+mj-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0.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2.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425535"/>
            <a:ext cx="7556421" cy="2934653"/>
          </a:xfrm>
          <a:prstGeom prst="rect">
            <a:avLst/>
          </a:prstGeom>
          <a:noFill/>
          <a:ln/>
        </p:spPr>
        <p:txBody>
          <a:bodyPr wrap="square" lIns="0" tIns="0" rIns="0" bIns="0" rtlCol="0" anchor="t"/>
          <a:lstStyle/>
          <a:p>
            <a:pPr marL="0" indent="0">
              <a:lnSpc>
                <a:spcPts val="7700"/>
              </a:lnSpc>
              <a:buNone/>
            </a:pPr>
            <a:r>
              <a:rPr lang="en-US" sz="6150" dirty="0">
                <a:solidFill>
                  <a:srgbClr val="F2F0F4"/>
                </a:solidFill>
                <a:latin typeface="Montserrat" pitchFamily="34" charset="0"/>
                <a:ea typeface="Montserrat" pitchFamily="34" charset="-122"/>
                <a:cs typeface="Montserrat" pitchFamily="34" charset="-120"/>
              </a:rPr>
              <a:t>One-Month Gen-AI Internship: Progress Report</a:t>
            </a:r>
            <a:endParaRPr lang="en-US" sz="6150" dirty="0"/>
          </a:p>
        </p:txBody>
      </p:sp>
      <p:sp>
        <p:nvSpPr>
          <p:cNvPr id="4" name="Text 1"/>
          <p:cNvSpPr/>
          <p:nvPr/>
        </p:nvSpPr>
        <p:spPr>
          <a:xfrm>
            <a:off x="793790" y="4700349"/>
            <a:ext cx="7556421" cy="1451610"/>
          </a:xfrm>
          <a:prstGeom prst="rect">
            <a:avLst/>
          </a:prstGeom>
          <a:noFill/>
          <a:ln/>
        </p:spPr>
        <p:txBody>
          <a:bodyPr wrap="square" lIns="0" tIns="0" rIns="0" bIns="0" rtlCol="0" anchor="t"/>
          <a:lstStyle/>
          <a:p>
            <a:pPr marL="0" indent="0">
              <a:lnSpc>
                <a:spcPts val="2850"/>
              </a:lnSpc>
              <a:buNone/>
            </a:pPr>
            <a:r>
              <a:rPr lang="en-US" sz="1750" dirty="0">
                <a:solidFill>
                  <a:srgbClr val="DCD7E5"/>
                </a:solidFill>
                <a:latin typeface="Heebo Light" pitchFamily="34" charset="0"/>
                <a:ea typeface="Heebo Light" pitchFamily="34" charset="-122"/>
                <a:cs typeface="Heebo Light" pitchFamily="34" charset="-120"/>
              </a:rPr>
              <a:t>This presentation outlines my key achievements and learnings from my one-month Gen-AI internship. The focus is on the rapid skill development, project milestones, and the continuous pursuit of knowledge in this rapidly evolving field.</a:t>
            </a:r>
            <a:endParaRPr lang="en-US" sz="1750" dirty="0"/>
          </a:p>
        </p:txBody>
      </p:sp>
      <p:sp>
        <p:nvSpPr>
          <p:cNvPr id="5" name="Shape 2"/>
          <p:cNvSpPr/>
          <p:nvPr/>
        </p:nvSpPr>
        <p:spPr>
          <a:xfrm>
            <a:off x="793790" y="6424017"/>
            <a:ext cx="362903" cy="362903"/>
          </a:xfrm>
          <a:prstGeom prst="roundRect">
            <a:avLst>
              <a:gd name="adj" fmla="val 25194296"/>
            </a:avLst>
          </a:prstGeom>
          <a:noFill/>
          <a:ln w="7620">
            <a:solidFill>
              <a:srgbClr val="FFFFFF"/>
            </a:solidFill>
            <a:prstDash val="solid"/>
          </a:ln>
        </p:spPr>
        <p:txBody>
          <a:bodyPr/>
          <a:lstStyle/>
          <a:p>
            <a:endParaRPr lang="en-IN"/>
          </a:p>
        </p:txBody>
      </p:sp>
      <p:pic>
        <p:nvPicPr>
          <p:cNvPr id="6" name="Image 1" descr="preencoded.png"/>
          <p:cNvPicPr>
            <a:picLocks noChangeAspect="1"/>
          </p:cNvPicPr>
          <p:nvPr/>
        </p:nvPicPr>
        <p:blipFill>
          <a:blip r:embed="rId4"/>
          <a:stretch>
            <a:fillRect/>
          </a:stretch>
        </p:blipFill>
        <p:spPr>
          <a:xfrm>
            <a:off x="801410" y="6431637"/>
            <a:ext cx="347663" cy="347663"/>
          </a:xfrm>
          <a:prstGeom prst="rect">
            <a:avLst/>
          </a:prstGeom>
        </p:spPr>
      </p:pic>
      <p:sp>
        <p:nvSpPr>
          <p:cNvPr id="7" name="Text 3"/>
          <p:cNvSpPr/>
          <p:nvPr/>
        </p:nvSpPr>
        <p:spPr>
          <a:xfrm>
            <a:off x="1270040" y="6407110"/>
            <a:ext cx="2842617" cy="396835"/>
          </a:xfrm>
          <a:prstGeom prst="rect">
            <a:avLst/>
          </a:prstGeom>
          <a:noFill/>
          <a:ln/>
        </p:spPr>
        <p:txBody>
          <a:bodyPr wrap="none" lIns="0" tIns="0" rIns="0" bIns="0" rtlCol="0" anchor="t"/>
          <a:lstStyle/>
          <a:p>
            <a:pPr marL="0" indent="0" algn="l">
              <a:lnSpc>
                <a:spcPts val="3100"/>
              </a:lnSpc>
              <a:buNone/>
            </a:pPr>
            <a:r>
              <a:rPr lang="en-US" sz="2200" b="1" dirty="0">
                <a:solidFill>
                  <a:srgbClr val="DCD7E5"/>
                </a:solidFill>
                <a:latin typeface="Heebo Bold" pitchFamily="34" charset="0"/>
                <a:ea typeface="Heebo Bold" pitchFamily="34" charset="-122"/>
                <a:cs typeface="Heebo Bold" pitchFamily="34" charset="-120"/>
              </a:rPr>
              <a:t>by Tapasmita Pattnaik</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18768" y="786646"/>
            <a:ext cx="12918162" cy="552450"/>
          </a:xfrm>
          <a:prstGeom prst="rect">
            <a:avLst/>
          </a:prstGeom>
          <a:noFill/>
          <a:ln/>
        </p:spPr>
        <p:txBody>
          <a:bodyPr wrap="none" lIns="0" tIns="0" rIns="0" bIns="0" rtlCol="0" anchor="t"/>
          <a:lstStyle/>
          <a:p>
            <a:pPr marL="0" indent="0">
              <a:lnSpc>
                <a:spcPts val="4350"/>
              </a:lnSpc>
              <a:buNone/>
            </a:pPr>
            <a:r>
              <a:rPr lang="en-US" sz="3450" dirty="0">
                <a:solidFill>
                  <a:srgbClr val="F2F0F4"/>
                </a:solidFill>
                <a:latin typeface="Montserrat" pitchFamily="34" charset="0"/>
                <a:ea typeface="Montserrat" pitchFamily="34" charset="-122"/>
                <a:cs typeface="Montserrat" pitchFamily="34" charset="-120"/>
              </a:rPr>
              <a:t>Learning Progression: From Fundamentals to Advanced AI</a:t>
            </a:r>
            <a:endParaRPr lang="en-US" sz="3450" dirty="0"/>
          </a:p>
        </p:txBody>
      </p:sp>
      <p:sp>
        <p:nvSpPr>
          <p:cNvPr id="3" name="Shape 1"/>
          <p:cNvSpPr/>
          <p:nvPr/>
        </p:nvSpPr>
        <p:spPr>
          <a:xfrm>
            <a:off x="618768" y="4567714"/>
            <a:ext cx="13392864" cy="22860"/>
          </a:xfrm>
          <a:prstGeom prst="roundRect">
            <a:avLst>
              <a:gd name="adj" fmla="val 324823"/>
            </a:avLst>
          </a:prstGeom>
          <a:solidFill>
            <a:srgbClr val="4A2C85"/>
          </a:solidFill>
          <a:ln/>
        </p:spPr>
        <p:txBody>
          <a:bodyPr/>
          <a:lstStyle/>
          <a:p>
            <a:endParaRPr lang="en-IN"/>
          </a:p>
        </p:txBody>
      </p:sp>
      <p:sp>
        <p:nvSpPr>
          <p:cNvPr id="4" name="Shape 2"/>
          <p:cNvSpPr/>
          <p:nvPr/>
        </p:nvSpPr>
        <p:spPr>
          <a:xfrm>
            <a:off x="3911203" y="3949005"/>
            <a:ext cx="22860" cy="618768"/>
          </a:xfrm>
          <a:prstGeom prst="roundRect">
            <a:avLst>
              <a:gd name="adj" fmla="val 324823"/>
            </a:avLst>
          </a:prstGeom>
          <a:solidFill>
            <a:srgbClr val="4A2C85"/>
          </a:solidFill>
          <a:ln/>
        </p:spPr>
        <p:txBody>
          <a:bodyPr/>
          <a:lstStyle/>
          <a:p>
            <a:endParaRPr lang="en-IN"/>
          </a:p>
        </p:txBody>
      </p:sp>
      <p:sp>
        <p:nvSpPr>
          <p:cNvPr id="5" name="Shape 3"/>
          <p:cNvSpPr/>
          <p:nvPr/>
        </p:nvSpPr>
        <p:spPr>
          <a:xfrm>
            <a:off x="3723799" y="4368820"/>
            <a:ext cx="397788" cy="397788"/>
          </a:xfrm>
          <a:prstGeom prst="roundRect">
            <a:avLst>
              <a:gd name="adj" fmla="val 18667"/>
            </a:avLst>
          </a:prstGeom>
          <a:solidFill>
            <a:srgbClr val="31136C"/>
          </a:solidFill>
          <a:ln w="7620">
            <a:solidFill>
              <a:srgbClr val="4A2C85"/>
            </a:solidFill>
            <a:prstDash val="solid"/>
          </a:ln>
        </p:spPr>
        <p:txBody>
          <a:bodyPr/>
          <a:lstStyle/>
          <a:p>
            <a:endParaRPr lang="en-IN"/>
          </a:p>
        </p:txBody>
      </p:sp>
      <p:sp>
        <p:nvSpPr>
          <p:cNvPr id="6" name="Text 4"/>
          <p:cNvSpPr/>
          <p:nvPr/>
        </p:nvSpPr>
        <p:spPr>
          <a:xfrm>
            <a:off x="3874770" y="4435138"/>
            <a:ext cx="95726" cy="265152"/>
          </a:xfrm>
          <a:prstGeom prst="rect">
            <a:avLst/>
          </a:prstGeom>
          <a:noFill/>
          <a:ln/>
        </p:spPr>
        <p:txBody>
          <a:bodyPr wrap="none" lIns="0" tIns="0" rIns="0" bIns="0" rtlCol="0" anchor="t"/>
          <a:lstStyle/>
          <a:p>
            <a:pPr marL="0" indent="0" algn="ctr">
              <a:lnSpc>
                <a:spcPts val="2050"/>
              </a:lnSpc>
              <a:buNone/>
            </a:pPr>
            <a:r>
              <a:rPr lang="en-US" sz="2050" dirty="0">
                <a:solidFill>
                  <a:srgbClr val="DCD7E5"/>
                </a:solidFill>
                <a:latin typeface="Montserrat" pitchFamily="34" charset="0"/>
                <a:ea typeface="Montserrat" pitchFamily="34" charset="-122"/>
                <a:cs typeface="Montserrat" pitchFamily="34" charset="-120"/>
              </a:rPr>
              <a:t>1</a:t>
            </a:r>
            <a:endParaRPr lang="en-US" sz="2050" dirty="0"/>
          </a:p>
        </p:txBody>
      </p:sp>
      <p:sp>
        <p:nvSpPr>
          <p:cNvPr id="7" name="Text 5"/>
          <p:cNvSpPr/>
          <p:nvPr/>
        </p:nvSpPr>
        <p:spPr>
          <a:xfrm>
            <a:off x="1273135" y="1692593"/>
            <a:ext cx="5299353" cy="276225"/>
          </a:xfrm>
          <a:prstGeom prst="rect">
            <a:avLst/>
          </a:prstGeom>
          <a:noFill/>
          <a:ln/>
        </p:spPr>
        <p:txBody>
          <a:bodyPr wrap="none" lIns="0" tIns="0" rIns="0" bIns="0" rtlCol="0" anchor="t"/>
          <a:lstStyle/>
          <a:p>
            <a:pPr marL="0" indent="0" algn="ctr">
              <a:lnSpc>
                <a:spcPts val="2150"/>
              </a:lnSpc>
              <a:buNone/>
            </a:pPr>
            <a:r>
              <a:rPr lang="en-US" sz="1700" dirty="0">
                <a:solidFill>
                  <a:srgbClr val="DCD7E5"/>
                </a:solidFill>
                <a:latin typeface="Montserrat" pitchFamily="34" charset="0"/>
                <a:ea typeface="Montserrat" pitchFamily="34" charset="-122"/>
                <a:cs typeface="Montserrat" pitchFamily="34" charset="-120"/>
              </a:rPr>
              <a:t>Foundation in AI/ML with Python &amp; PostgreSQL </a:t>
            </a:r>
            <a:endParaRPr lang="en-US" sz="1700" dirty="0"/>
          </a:p>
        </p:txBody>
      </p:sp>
      <p:sp>
        <p:nvSpPr>
          <p:cNvPr id="8" name="Text 6"/>
          <p:cNvSpPr/>
          <p:nvPr/>
        </p:nvSpPr>
        <p:spPr>
          <a:xfrm>
            <a:off x="795457" y="2074783"/>
            <a:ext cx="6254710" cy="1697355"/>
          </a:xfrm>
          <a:prstGeom prst="rect">
            <a:avLst/>
          </a:prstGeom>
          <a:noFill/>
          <a:ln/>
        </p:spPr>
        <p:txBody>
          <a:bodyPr wrap="square" lIns="0" tIns="0" rIns="0" bIns="0" rtlCol="0" anchor="t"/>
          <a:lstStyle/>
          <a:p>
            <a:pPr marL="0" indent="0" algn="ctr">
              <a:lnSpc>
                <a:spcPts val="2200"/>
              </a:lnSpc>
              <a:buNone/>
            </a:pPr>
            <a:r>
              <a:rPr lang="en-US" sz="1350" dirty="0">
                <a:solidFill>
                  <a:srgbClr val="DCD7E5"/>
                </a:solidFill>
                <a:latin typeface="Heebo Light" pitchFamily="34" charset="0"/>
                <a:ea typeface="Heebo Light" pitchFamily="34" charset="-122"/>
                <a:cs typeface="Heebo Light" pitchFamily="34" charset="-120"/>
              </a:rPr>
              <a:t>My journey began with mastering Python for data manipulation and analysis using NumPy and Pandas, followed by PostgreSQL for efficient data management. I then learned Django to integrate AI models into web applications and React for dynamic user interfaces. Lastly, I gained hands-on experience in supervised and unsupervised machine learning, developing predictive models and uncovering data patterns.</a:t>
            </a:r>
            <a:endParaRPr lang="en-US" sz="1350" dirty="0"/>
          </a:p>
        </p:txBody>
      </p:sp>
      <p:sp>
        <p:nvSpPr>
          <p:cNvPr id="9" name="Shape 7"/>
          <p:cNvSpPr/>
          <p:nvPr/>
        </p:nvSpPr>
        <p:spPr>
          <a:xfrm>
            <a:off x="7303532" y="4567654"/>
            <a:ext cx="22860" cy="618768"/>
          </a:xfrm>
          <a:prstGeom prst="roundRect">
            <a:avLst>
              <a:gd name="adj" fmla="val 324823"/>
            </a:avLst>
          </a:prstGeom>
          <a:solidFill>
            <a:srgbClr val="4A2C85"/>
          </a:solidFill>
          <a:ln/>
        </p:spPr>
        <p:txBody>
          <a:bodyPr/>
          <a:lstStyle/>
          <a:p>
            <a:endParaRPr lang="en-IN"/>
          </a:p>
        </p:txBody>
      </p:sp>
      <p:sp>
        <p:nvSpPr>
          <p:cNvPr id="10" name="Shape 8"/>
          <p:cNvSpPr/>
          <p:nvPr/>
        </p:nvSpPr>
        <p:spPr>
          <a:xfrm>
            <a:off x="7116128" y="4368820"/>
            <a:ext cx="397788" cy="397788"/>
          </a:xfrm>
          <a:prstGeom prst="roundRect">
            <a:avLst>
              <a:gd name="adj" fmla="val 18667"/>
            </a:avLst>
          </a:prstGeom>
          <a:solidFill>
            <a:srgbClr val="31136C"/>
          </a:solidFill>
          <a:ln w="7620">
            <a:solidFill>
              <a:srgbClr val="4A2C85"/>
            </a:solidFill>
            <a:prstDash val="solid"/>
          </a:ln>
        </p:spPr>
        <p:txBody>
          <a:bodyPr/>
          <a:lstStyle/>
          <a:p>
            <a:endParaRPr lang="en-IN"/>
          </a:p>
        </p:txBody>
      </p:sp>
      <p:sp>
        <p:nvSpPr>
          <p:cNvPr id="11" name="Text 9"/>
          <p:cNvSpPr/>
          <p:nvPr/>
        </p:nvSpPr>
        <p:spPr>
          <a:xfrm>
            <a:off x="7239714" y="4435138"/>
            <a:ext cx="150614" cy="265152"/>
          </a:xfrm>
          <a:prstGeom prst="rect">
            <a:avLst/>
          </a:prstGeom>
          <a:noFill/>
          <a:ln/>
        </p:spPr>
        <p:txBody>
          <a:bodyPr wrap="none" lIns="0" tIns="0" rIns="0" bIns="0" rtlCol="0" anchor="t"/>
          <a:lstStyle/>
          <a:p>
            <a:pPr marL="0" indent="0" algn="ctr">
              <a:lnSpc>
                <a:spcPts val="2050"/>
              </a:lnSpc>
              <a:buNone/>
            </a:pPr>
            <a:r>
              <a:rPr lang="en-US" sz="2050" dirty="0">
                <a:solidFill>
                  <a:srgbClr val="DCD7E5"/>
                </a:solidFill>
                <a:latin typeface="Montserrat" pitchFamily="34" charset="0"/>
                <a:ea typeface="Montserrat" pitchFamily="34" charset="-122"/>
                <a:cs typeface="Montserrat" pitchFamily="34" charset="-120"/>
              </a:rPr>
              <a:t>2</a:t>
            </a:r>
            <a:endParaRPr lang="en-US" sz="2050" dirty="0"/>
          </a:p>
        </p:txBody>
      </p:sp>
      <p:sp>
        <p:nvSpPr>
          <p:cNvPr id="12" name="Text 10"/>
          <p:cNvSpPr/>
          <p:nvPr/>
        </p:nvSpPr>
        <p:spPr>
          <a:xfrm>
            <a:off x="5421392" y="5363289"/>
            <a:ext cx="3787497" cy="276225"/>
          </a:xfrm>
          <a:prstGeom prst="rect">
            <a:avLst/>
          </a:prstGeom>
          <a:noFill/>
          <a:ln/>
        </p:spPr>
        <p:txBody>
          <a:bodyPr wrap="none" lIns="0" tIns="0" rIns="0" bIns="0" rtlCol="0" anchor="t"/>
          <a:lstStyle/>
          <a:p>
            <a:pPr marL="0" indent="0" algn="ctr">
              <a:lnSpc>
                <a:spcPts val="2150"/>
              </a:lnSpc>
              <a:buNone/>
            </a:pPr>
            <a:r>
              <a:rPr lang="en-US" sz="1700" dirty="0">
                <a:solidFill>
                  <a:srgbClr val="DCD7E5"/>
                </a:solidFill>
                <a:latin typeface="Montserrat" pitchFamily="34" charset="0"/>
                <a:ea typeface="Montserrat" pitchFamily="34" charset="-122"/>
                <a:cs typeface="Montserrat" pitchFamily="34" charset="-120"/>
              </a:rPr>
              <a:t>Exploring Large Language Models</a:t>
            </a:r>
            <a:endParaRPr lang="en-US" sz="1700" dirty="0"/>
          </a:p>
        </p:txBody>
      </p:sp>
      <p:sp>
        <p:nvSpPr>
          <p:cNvPr id="13" name="Text 11"/>
          <p:cNvSpPr/>
          <p:nvPr/>
        </p:nvSpPr>
        <p:spPr>
          <a:xfrm>
            <a:off x="4187785" y="5745480"/>
            <a:ext cx="6254710" cy="1697355"/>
          </a:xfrm>
          <a:prstGeom prst="rect">
            <a:avLst/>
          </a:prstGeom>
          <a:noFill/>
          <a:ln/>
        </p:spPr>
        <p:txBody>
          <a:bodyPr wrap="square" lIns="0" tIns="0" rIns="0" bIns="0" rtlCol="0" anchor="t"/>
          <a:lstStyle/>
          <a:p>
            <a:pPr marL="0" indent="0" algn="ctr">
              <a:lnSpc>
                <a:spcPts val="2200"/>
              </a:lnSpc>
              <a:buNone/>
            </a:pPr>
            <a:r>
              <a:rPr lang="en-US" sz="1350" dirty="0">
                <a:solidFill>
                  <a:srgbClr val="DCD7E5"/>
                </a:solidFill>
                <a:latin typeface="Heebo Light" pitchFamily="34" charset="0"/>
                <a:ea typeface="Heebo Light" pitchFamily="34" charset="-122"/>
                <a:cs typeface="Heebo Light" pitchFamily="34" charset="-120"/>
              </a:rPr>
              <a:t>Building upon the fundamentals, the internship progressed to exploring the world of large language models (LLMs). This involved understanding their capabilities, limitations, and how to integrate them into real-world applications. I learned to enhance model responses by integrating external knowledge through intelligent document chunking, creating semantic embeddings, and using vector databases for efficient retrieval.</a:t>
            </a:r>
            <a:endParaRPr lang="en-US" sz="1350" dirty="0"/>
          </a:p>
        </p:txBody>
      </p:sp>
      <p:sp>
        <p:nvSpPr>
          <p:cNvPr id="14" name="Shape 12"/>
          <p:cNvSpPr/>
          <p:nvPr/>
        </p:nvSpPr>
        <p:spPr>
          <a:xfrm>
            <a:off x="10695980" y="3949005"/>
            <a:ext cx="22860" cy="618768"/>
          </a:xfrm>
          <a:prstGeom prst="roundRect">
            <a:avLst>
              <a:gd name="adj" fmla="val 324823"/>
            </a:avLst>
          </a:prstGeom>
          <a:solidFill>
            <a:srgbClr val="4A2C85"/>
          </a:solidFill>
          <a:ln/>
        </p:spPr>
        <p:txBody>
          <a:bodyPr/>
          <a:lstStyle/>
          <a:p>
            <a:endParaRPr lang="en-IN"/>
          </a:p>
        </p:txBody>
      </p:sp>
      <p:sp>
        <p:nvSpPr>
          <p:cNvPr id="15" name="Shape 13"/>
          <p:cNvSpPr/>
          <p:nvPr/>
        </p:nvSpPr>
        <p:spPr>
          <a:xfrm>
            <a:off x="10508575" y="4368820"/>
            <a:ext cx="397788" cy="397788"/>
          </a:xfrm>
          <a:prstGeom prst="roundRect">
            <a:avLst>
              <a:gd name="adj" fmla="val 18667"/>
            </a:avLst>
          </a:prstGeom>
          <a:solidFill>
            <a:srgbClr val="31136C"/>
          </a:solidFill>
          <a:ln w="7620">
            <a:solidFill>
              <a:srgbClr val="4A2C85"/>
            </a:solidFill>
            <a:prstDash val="solid"/>
          </a:ln>
        </p:spPr>
        <p:txBody>
          <a:bodyPr/>
          <a:lstStyle/>
          <a:p>
            <a:endParaRPr lang="en-IN"/>
          </a:p>
        </p:txBody>
      </p:sp>
      <p:sp>
        <p:nvSpPr>
          <p:cNvPr id="16" name="Text 14"/>
          <p:cNvSpPr/>
          <p:nvPr/>
        </p:nvSpPr>
        <p:spPr>
          <a:xfrm>
            <a:off x="10632638" y="4435138"/>
            <a:ext cx="149662" cy="265152"/>
          </a:xfrm>
          <a:prstGeom prst="rect">
            <a:avLst/>
          </a:prstGeom>
          <a:noFill/>
          <a:ln/>
        </p:spPr>
        <p:txBody>
          <a:bodyPr wrap="none" lIns="0" tIns="0" rIns="0" bIns="0" rtlCol="0" anchor="t"/>
          <a:lstStyle/>
          <a:p>
            <a:pPr marL="0" indent="0" algn="ctr">
              <a:lnSpc>
                <a:spcPts val="2050"/>
              </a:lnSpc>
              <a:buNone/>
            </a:pPr>
            <a:r>
              <a:rPr lang="en-US" sz="2050" dirty="0">
                <a:solidFill>
                  <a:srgbClr val="DCD7E5"/>
                </a:solidFill>
                <a:latin typeface="Montserrat" pitchFamily="34" charset="0"/>
                <a:ea typeface="Montserrat" pitchFamily="34" charset="-122"/>
                <a:cs typeface="Montserrat" pitchFamily="34" charset="-120"/>
              </a:rPr>
              <a:t>3</a:t>
            </a:r>
            <a:endParaRPr lang="en-US" sz="2050" dirty="0"/>
          </a:p>
        </p:txBody>
      </p:sp>
      <p:sp>
        <p:nvSpPr>
          <p:cNvPr id="17" name="Text 15"/>
          <p:cNvSpPr/>
          <p:nvPr/>
        </p:nvSpPr>
        <p:spPr>
          <a:xfrm>
            <a:off x="8574762" y="2258378"/>
            <a:ext cx="4265652" cy="276225"/>
          </a:xfrm>
          <a:prstGeom prst="rect">
            <a:avLst/>
          </a:prstGeom>
          <a:noFill/>
          <a:ln/>
        </p:spPr>
        <p:txBody>
          <a:bodyPr wrap="none" lIns="0" tIns="0" rIns="0" bIns="0" rtlCol="0" anchor="t"/>
          <a:lstStyle/>
          <a:p>
            <a:pPr marL="0" indent="0" algn="ctr">
              <a:lnSpc>
                <a:spcPts val="2150"/>
              </a:lnSpc>
              <a:buNone/>
            </a:pPr>
            <a:r>
              <a:rPr lang="en-US" sz="1700" dirty="0">
                <a:solidFill>
                  <a:srgbClr val="DCD7E5"/>
                </a:solidFill>
                <a:latin typeface="Montserrat" pitchFamily="34" charset="0"/>
                <a:ea typeface="Montserrat" pitchFamily="34" charset="-122"/>
                <a:cs typeface="Montserrat" pitchFamily="34" charset="-120"/>
              </a:rPr>
              <a:t>Implementing Complex LLM Solutions</a:t>
            </a:r>
            <a:endParaRPr lang="en-US" sz="1700" dirty="0"/>
          </a:p>
        </p:txBody>
      </p:sp>
      <p:sp>
        <p:nvSpPr>
          <p:cNvPr id="18" name="Text 16"/>
          <p:cNvSpPr/>
          <p:nvPr/>
        </p:nvSpPr>
        <p:spPr>
          <a:xfrm>
            <a:off x="7580233" y="2640568"/>
            <a:ext cx="6254710" cy="1131570"/>
          </a:xfrm>
          <a:prstGeom prst="rect">
            <a:avLst/>
          </a:prstGeom>
          <a:noFill/>
          <a:ln/>
        </p:spPr>
        <p:txBody>
          <a:bodyPr wrap="square" lIns="0" tIns="0" rIns="0" bIns="0" rtlCol="0" anchor="t"/>
          <a:lstStyle/>
          <a:p>
            <a:pPr marL="0" indent="0" algn="ctr">
              <a:lnSpc>
                <a:spcPts val="2200"/>
              </a:lnSpc>
              <a:buNone/>
            </a:pPr>
            <a:r>
              <a:rPr lang="en-US" sz="1350" dirty="0">
                <a:solidFill>
                  <a:srgbClr val="DCD7E5"/>
                </a:solidFill>
                <a:latin typeface="Heebo Light" pitchFamily="34" charset="0"/>
                <a:ea typeface="Heebo Light" pitchFamily="34" charset="-122"/>
                <a:cs typeface="Heebo Light" pitchFamily="34" charset="-120"/>
              </a:rPr>
              <a:t>The internship culminated in implementing complex LLM solutions, such as building chatbots and performing advanced text analysis. This involved hands-on experience with fine-tuning LLMs and developing bespoke solutions to specific business challenges.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14256" y="561261"/>
            <a:ext cx="6489621" cy="637818"/>
          </a:xfrm>
          <a:prstGeom prst="rect">
            <a:avLst/>
          </a:prstGeom>
          <a:noFill/>
          <a:ln/>
        </p:spPr>
        <p:txBody>
          <a:bodyPr wrap="none" lIns="0" tIns="0" rIns="0" bIns="0" rtlCol="0" anchor="t"/>
          <a:lstStyle/>
          <a:p>
            <a:pPr marL="0" indent="0">
              <a:lnSpc>
                <a:spcPts val="5000"/>
              </a:lnSpc>
              <a:buNone/>
            </a:pPr>
            <a:r>
              <a:rPr lang="en-US" sz="4000" dirty="0">
                <a:solidFill>
                  <a:srgbClr val="F2F0F4"/>
                </a:solidFill>
                <a:latin typeface="Montserrat" pitchFamily="34" charset="0"/>
                <a:ea typeface="Montserrat" pitchFamily="34" charset="-122"/>
                <a:cs typeface="Montserrat" pitchFamily="34" charset="-120"/>
              </a:rPr>
              <a:t>Technical Stack Evolution</a:t>
            </a:r>
            <a:endParaRPr lang="en-US" sz="4000" dirty="0"/>
          </a:p>
        </p:txBody>
      </p:sp>
      <p:pic>
        <p:nvPicPr>
          <p:cNvPr id="3" name="Image 0" descr="preencoded.png"/>
          <p:cNvPicPr>
            <a:picLocks noChangeAspect="1"/>
          </p:cNvPicPr>
          <p:nvPr/>
        </p:nvPicPr>
        <p:blipFill>
          <a:blip r:embed="rId3"/>
          <a:stretch>
            <a:fillRect/>
          </a:stretch>
        </p:blipFill>
        <p:spPr>
          <a:xfrm>
            <a:off x="3197781" y="1607225"/>
            <a:ext cx="1633657" cy="1175861"/>
          </a:xfrm>
          <a:prstGeom prst="rect">
            <a:avLst/>
          </a:prstGeom>
        </p:spPr>
      </p:pic>
      <p:sp>
        <p:nvSpPr>
          <p:cNvPr id="4" name="Text 1"/>
          <p:cNvSpPr/>
          <p:nvPr/>
        </p:nvSpPr>
        <p:spPr>
          <a:xfrm>
            <a:off x="3968472" y="2136815"/>
            <a:ext cx="92154" cy="408146"/>
          </a:xfrm>
          <a:prstGeom prst="rect">
            <a:avLst/>
          </a:prstGeom>
          <a:noFill/>
          <a:ln/>
        </p:spPr>
        <p:txBody>
          <a:bodyPr wrap="none" lIns="0" tIns="0" rIns="0" bIns="0" rtlCol="0" anchor="t"/>
          <a:lstStyle/>
          <a:p>
            <a:pPr marL="0" indent="0" algn="ctr">
              <a:lnSpc>
                <a:spcPts val="3200"/>
              </a:lnSpc>
              <a:buNone/>
            </a:pPr>
            <a:r>
              <a:rPr lang="en-US" sz="2000" dirty="0">
                <a:solidFill>
                  <a:srgbClr val="DCD7E5"/>
                </a:solidFill>
                <a:latin typeface="Montserrat" pitchFamily="34" charset="0"/>
                <a:ea typeface="Montserrat" pitchFamily="34" charset="-122"/>
                <a:cs typeface="Montserrat" pitchFamily="34" charset="-120"/>
              </a:rPr>
              <a:t>1</a:t>
            </a:r>
            <a:endParaRPr lang="en-US" sz="2000" dirty="0"/>
          </a:p>
        </p:txBody>
      </p:sp>
      <p:sp>
        <p:nvSpPr>
          <p:cNvPr id="5" name="Text 2"/>
          <p:cNvSpPr/>
          <p:nvPr/>
        </p:nvSpPr>
        <p:spPr>
          <a:xfrm>
            <a:off x="5035510" y="1811298"/>
            <a:ext cx="3062764" cy="318849"/>
          </a:xfrm>
          <a:prstGeom prst="rect">
            <a:avLst/>
          </a:prstGeom>
          <a:noFill/>
          <a:ln/>
        </p:spPr>
        <p:txBody>
          <a:bodyPr wrap="none" lIns="0" tIns="0" rIns="0" bIns="0" rtlCol="0" anchor="t"/>
          <a:lstStyle/>
          <a:p>
            <a:pPr marL="0" indent="0" algn="l">
              <a:lnSpc>
                <a:spcPts val="2500"/>
              </a:lnSpc>
              <a:buNone/>
            </a:pPr>
            <a:r>
              <a:rPr lang="en-US" sz="2000" dirty="0">
                <a:solidFill>
                  <a:srgbClr val="DCD7E5"/>
                </a:solidFill>
                <a:latin typeface="Montserrat" pitchFamily="34" charset="0"/>
                <a:ea typeface="Montserrat" pitchFamily="34" charset="-122"/>
                <a:cs typeface="Montserrat" pitchFamily="34" charset="-120"/>
              </a:rPr>
              <a:t>Languages &amp; Databases</a:t>
            </a:r>
            <a:endParaRPr lang="en-US" sz="2000" dirty="0"/>
          </a:p>
        </p:txBody>
      </p:sp>
      <p:sp>
        <p:nvSpPr>
          <p:cNvPr id="6" name="Text 3"/>
          <p:cNvSpPr/>
          <p:nvPr/>
        </p:nvSpPr>
        <p:spPr>
          <a:xfrm>
            <a:off x="5035510" y="2252543"/>
            <a:ext cx="3062764" cy="326469"/>
          </a:xfrm>
          <a:prstGeom prst="rect">
            <a:avLst/>
          </a:prstGeom>
          <a:noFill/>
          <a:ln/>
        </p:spPr>
        <p:txBody>
          <a:bodyPr wrap="non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Python, PostgreSQL</a:t>
            </a:r>
            <a:endParaRPr lang="en-US" sz="1600" dirty="0"/>
          </a:p>
        </p:txBody>
      </p:sp>
      <p:sp>
        <p:nvSpPr>
          <p:cNvPr id="7" name="Shape 4"/>
          <p:cNvSpPr/>
          <p:nvPr/>
        </p:nvSpPr>
        <p:spPr>
          <a:xfrm>
            <a:off x="4882396" y="2799040"/>
            <a:ext cx="8982789" cy="11430"/>
          </a:xfrm>
          <a:prstGeom prst="roundRect">
            <a:avLst>
              <a:gd name="adj" fmla="val 749970"/>
            </a:avLst>
          </a:prstGeom>
          <a:solidFill>
            <a:srgbClr val="4A2C85"/>
          </a:solidFill>
          <a:ln/>
        </p:spPr>
        <p:txBody>
          <a:bodyPr/>
          <a:lstStyle/>
          <a:p>
            <a:endParaRPr lang="en-IN"/>
          </a:p>
        </p:txBody>
      </p:sp>
      <p:pic>
        <p:nvPicPr>
          <p:cNvPr id="8" name="Image 1" descr="preencoded.png"/>
          <p:cNvPicPr>
            <a:picLocks noChangeAspect="1"/>
          </p:cNvPicPr>
          <p:nvPr/>
        </p:nvPicPr>
        <p:blipFill>
          <a:blip r:embed="rId4"/>
          <a:stretch>
            <a:fillRect/>
          </a:stretch>
        </p:blipFill>
        <p:spPr>
          <a:xfrm>
            <a:off x="2380893" y="2834045"/>
            <a:ext cx="3267432" cy="1175861"/>
          </a:xfrm>
          <a:prstGeom prst="rect">
            <a:avLst/>
          </a:prstGeom>
        </p:spPr>
      </p:pic>
      <p:sp>
        <p:nvSpPr>
          <p:cNvPr id="9" name="Text 5"/>
          <p:cNvSpPr/>
          <p:nvPr/>
        </p:nvSpPr>
        <p:spPr>
          <a:xfrm>
            <a:off x="3942159" y="3217902"/>
            <a:ext cx="144899" cy="408146"/>
          </a:xfrm>
          <a:prstGeom prst="rect">
            <a:avLst/>
          </a:prstGeom>
          <a:noFill/>
          <a:ln/>
        </p:spPr>
        <p:txBody>
          <a:bodyPr wrap="none" lIns="0" tIns="0" rIns="0" bIns="0" rtlCol="0" anchor="t"/>
          <a:lstStyle/>
          <a:p>
            <a:pPr marL="0" indent="0" algn="ctr">
              <a:lnSpc>
                <a:spcPts val="3200"/>
              </a:lnSpc>
              <a:buNone/>
            </a:pPr>
            <a:r>
              <a:rPr lang="en-US" sz="2000" dirty="0">
                <a:solidFill>
                  <a:srgbClr val="DCD7E5"/>
                </a:solidFill>
                <a:latin typeface="Montserrat" pitchFamily="34" charset="0"/>
                <a:ea typeface="Montserrat" pitchFamily="34" charset="-122"/>
                <a:cs typeface="Montserrat" pitchFamily="34" charset="-120"/>
              </a:rPr>
              <a:t>2</a:t>
            </a:r>
            <a:endParaRPr lang="en-US" sz="2000" dirty="0"/>
          </a:p>
        </p:txBody>
      </p:sp>
      <p:sp>
        <p:nvSpPr>
          <p:cNvPr id="10" name="Text 6"/>
          <p:cNvSpPr/>
          <p:nvPr/>
        </p:nvSpPr>
        <p:spPr>
          <a:xfrm>
            <a:off x="5852398" y="3038118"/>
            <a:ext cx="3159919" cy="318849"/>
          </a:xfrm>
          <a:prstGeom prst="rect">
            <a:avLst/>
          </a:prstGeom>
          <a:noFill/>
          <a:ln/>
        </p:spPr>
        <p:txBody>
          <a:bodyPr wrap="none" lIns="0" tIns="0" rIns="0" bIns="0" rtlCol="0" anchor="t"/>
          <a:lstStyle/>
          <a:p>
            <a:pPr marL="0" indent="0" algn="l">
              <a:lnSpc>
                <a:spcPts val="2500"/>
              </a:lnSpc>
              <a:buNone/>
            </a:pPr>
            <a:r>
              <a:rPr lang="en-US" sz="2000" dirty="0">
                <a:solidFill>
                  <a:srgbClr val="DCD7E5"/>
                </a:solidFill>
                <a:latin typeface="Montserrat" pitchFamily="34" charset="0"/>
                <a:ea typeface="Montserrat" pitchFamily="34" charset="-122"/>
                <a:cs typeface="Montserrat" pitchFamily="34" charset="-120"/>
              </a:rPr>
              <a:t>LLM Technologies &amp; RAG</a:t>
            </a:r>
            <a:endParaRPr lang="en-US" sz="2000" dirty="0"/>
          </a:p>
        </p:txBody>
      </p:sp>
      <p:sp>
        <p:nvSpPr>
          <p:cNvPr id="11" name="Text 7"/>
          <p:cNvSpPr/>
          <p:nvPr/>
        </p:nvSpPr>
        <p:spPr>
          <a:xfrm>
            <a:off x="5852398" y="3479363"/>
            <a:ext cx="4635460" cy="326469"/>
          </a:xfrm>
          <a:prstGeom prst="rect">
            <a:avLst/>
          </a:prstGeom>
          <a:noFill/>
          <a:ln/>
        </p:spPr>
        <p:txBody>
          <a:bodyPr wrap="non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OpenAI, Gemini AI, Hugging Face, Groq AI, Mistral AI</a:t>
            </a:r>
            <a:endParaRPr lang="en-US" sz="1600" dirty="0"/>
          </a:p>
        </p:txBody>
      </p:sp>
      <p:sp>
        <p:nvSpPr>
          <p:cNvPr id="12" name="Shape 8"/>
          <p:cNvSpPr/>
          <p:nvPr/>
        </p:nvSpPr>
        <p:spPr>
          <a:xfrm>
            <a:off x="5699284" y="4025860"/>
            <a:ext cx="8165902" cy="11430"/>
          </a:xfrm>
          <a:prstGeom prst="roundRect">
            <a:avLst>
              <a:gd name="adj" fmla="val 749970"/>
            </a:avLst>
          </a:prstGeom>
          <a:solidFill>
            <a:srgbClr val="4A2C85"/>
          </a:solidFill>
          <a:ln/>
        </p:spPr>
        <p:txBody>
          <a:bodyPr/>
          <a:lstStyle/>
          <a:p>
            <a:endParaRPr lang="en-IN"/>
          </a:p>
        </p:txBody>
      </p:sp>
      <p:pic>
        <p:nvPicPr>
          <p:cNvPr id="13" name="Image 2" descr="preencoded.png"/>
          <p:cNvPicPr>
            <a:picLocks noChangeAspect="1"/>
          </p:cNvPicPr>
          <p:nvPr/>
        </p:nvPicPr>
        <p:blipFill>
          <a:blip r:embed="rId5"/>
          <a:stretch>
            <a:fillRect/>
          </a:stretch>
        </p:blipFill>
        <p:spPr>
          <a:xfrm>
            <a:off x="1564124" y="4060865"/>
            <a:ext cx="4901089" cy="1175861"/>
          </a:xfrm>
          <a:prstGeom prst="rect">
            <a:avLst/>
          </a:prstGeom>
        </p:spPr>
      </p:pic>
      <p:sp>
        <p:nvSpPr>
          <p:cNvPr id="14" name="Text 9"/>
          <p:cNvSpPr/>
          <p:nvPr/>
        </p:nvSpPr>
        <p:spPr>
          <a:xfrm>
            <a:off x="3942636" y="4444722"/>
            <a:ext cx="143947" cy="408146"/>
          </a:xfrm>
          <a:prstGeom prst="rect">
            <a:avLst/>
          </a:prstGeom>
          <a:noFill/>
          <a:ln/>
        </p:spPr>
        <p:txBody>
          <a:bodyPr wrap="none" lIns="0" tIns="0" rIns="0" bIns="0" rtlCol="0" anchor="t"/>
          <a:lstStyle/>
          <a:p>
            <a:pPr marL="0" indent="0" algn="ctr">
              <a:lnSpc>
                <a:spcPts val="3200"/>
              </a:lnSpc>
              <a:buNone/>
            </a:pPr>
            <a:r>
              <a:rPr lang="en-US" sz="2000" dirty="0">
                <a:solidFill>
                  <a:srgbClr val="DCD7E5"/>
                </a:solidFill>
                <a:latin typeface="Montserrat" pitchFamily="34" charset="0"/>
                <a:ea typeface="Montserrat" pitchFamily="34" charset="-122"/>
                <a:cs typeface="Montserrat" pitchFamily="34" charset="-120"/>
              </a:rPr>
              <a:t>3</a:t>
            </a:r>
            <a:endParaRPr lang="en-US" sz="2000" dirty="0"/>
          </a:p>
        </p:txBody>
      </p:sp>
      <p:sp>
        <p:nvSpPr>
          <p:cNvPr id="15" name="Text 10"/>
          <p:cNvSpPr/>
          <p:nvPr/>
        </p:nvSpPr>
        <p:spPr>
          <a:xfrm>
            <a:off x="6669286" y="4264938"/>
            <a:ext cx="2551152" cy="318849"/>
          </a:xfrm>
          <a:prstGeom prst="rect">
            <a:avLst/>
          </a:prstGeom>
          <a:noFill/>
          <a:ln/>
        </p:spPr>
        <p:txBody>
          <a:bodyPr wrap="none" lIns="0" tIns="0" rIns="0" bIns="0" rtlCol="0" anchor="t"/>
          <a:lstStyle/>
          <a:p>
            <a:pPr marL="0" indent="0" algn="l">
              <a:lnSpc>
                <a:spcPts val="2500"/>
              </a:lnSpc>
              <a:buNone/>
            </a:pPr>
            <a:r>
              <a:rPr lang="en-US" sz="2000" dirty="0">
                <a:solidFill>
                  <a:srgbClr val="DCD7E5"/>
                </a:solidFill>
                <a:latin typeface="Montserrat" pitchFamily="34" charset="0"/>
                <a:ea typeface="Montserrat" pitchFamily="34" charset="-122"/>
                <a:cs typeface="Montserrat" pitchFamily="34" charset="-120"/>
              </a:rPr>
              <a:t>Frameworks &amp; Tools</a:t>
            </a:r>
            <a:endParaRPr lang="en-US" sz="2000" dirty="0"/>
          </a:p>
        </p:txBody>
      </p:sp>
      <p:sp>
        <p:nvSpPr>
          <p:cNvPr id="16" name="Text 11"/>
          <p:cNvSpPr/>
          <p:nvPr/>
        </p:nvSpPr>
        <p:spPr>
          <a:xfrm>
            <a:off x="6669286" y="4706183"/>
            <a:ext cx="3890962" cy="326469"/>
          </a:xfrm>
          <a:prstGeom prst="rect">
            <a:avLst/>
          </a:prstGeom>
          <a:noFill/>
          <a:ln/>
        </p:spPr>
        <p:txBody>
          <a:bodyPr wrap="non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LangChain, LLaMA Index, ChromaDB, FAISS</a:t>
            </a:r>
            <a:endParaRPr lang="en-US" sz="1600" dirty="0"/>
          </a:p>
        </p:txBody>
      </p:sp>
      <p:sp>
        <p:nvSpPr>
          <p:cNvPr id="17" name="Shape 12"/>
          <p:cNvSpPr/>
          <p:nvPr/>
        </p:nvSpPr>
        <p:spPr>
          <a:xfrm>
            <a:off x="6516172" y="5252680"/>
            <a:ext cx="7349014" cy="11430"/>
          </a:xfrm>
          <a:prstGeom prst="roundRect">
            <a:avLst>
              <a:gd name="adj" fmla="val 749970"/>
            </a:avLst>
          </a:prstGeom>
          <a:solidFill>
            <a:srgbClr val="4A2C85"/>
          </a:solidFill>
          <a:ln/>
        </p:spPr>
        <p:txBody>
          <a:bodyPr/>
          <a:lstStyle/>
          <a:p>
            <a:endParaRPr lang="en-IN"/>
          </a:p>
        </p:txBody>
      </p:sp>
      <p:pic>
        <p:nvPicPr>
          <p:cNvPr id="18" name="Image 3" descr="preencoded.png"/>
          <p:cNvPicPr>
            <a:picLocks noChangeAspect="1"/>
          </p:cNvPicPr>
          <p:nvPr/>
        </p:nvPicPr>
        <p:blipFill>
          <a:blip r:embed="rId6"/>
          <a:stretch>
            <a:fillRect/>
          </a:stretch>
        </p:blipFill>
        <p:spPr>
          <a:xfrm>
            <a:off x="747236" y="5287685"/>
            <a:ext cx="6534864" cy="1175861"/>
          </a:xfrm>
          <a:prstGeom prst="rect">
            <a:avLst/>
          </a:prstGeom>
        </p:spPr>
      </p:pic>
      <p:sp>
        <p:nvSpPr>
          <p:cNvPr id="19" name="Text 13"/>
          <p:cNvSpPr/>
          <p:nvPr/>
        </p:nvSpPr>
        <p:spPr>
          <a:xfrm>
            <a:off x="3930253" y="5671542"/>
            <a:ext cx="168593" cy="408146"/>
          </a:xfrm>
          <a:prstGeom prst="rect">
            <a:avLst/>
          </a:prstGeom>
          <a:noFill/>
          <a:ln/>
        </p:spPr>
        <p:txBody>
          <a:bodyPr wrap="none" lIns="0" tIns="0" rIns="0" bIns="0" rtlCol="0" anchor="t"/>
          <a:lstStyle/>
          <a:p>
            <a:pPr marL="0" indent="0" algn="ctr">
              <a:lnSpc>
                <a:spcPts val="3200"/>
              </a:lnSpc>
              <a:buNone/>
            </a:pPr>
            <a:r>
              <a:rPr lang="en-US" sz="2000" dirty="0">
                <a:solidFill>
                  <a:srgbClr val="DCD7E5"/>
                </a:solidFill>
                <a:latin typeface="Montserrat" pitchFamily="34" charset="0"/>
                <a:ea typeface="Montserrat" pitchFamily="34" charset="-122"/>
                <a:cs typeface="Montserrat" pitchFamily="34" charset="-120"/>
              </a:rPr>
              <a:t>4</a:t>
            </a:r>
            <a:endParaRPr lang="en-US" sz="2000" dirty="0"/>
          </a:p>
        </p:txBody>
      </p:sp>
      <p:sp>
        <p:nvSpPr>
          <p:cNvPr id="20" name="Text 14"/>
          <p:cNvSpPr/>
          <p:nvPr/>
        </p:nvSpPr>
        <p:spPr>
          <a:xfrm>
            <a:off x="7486174" y="5491758"/>
            <a:ext cx="1872139" cy="318849"/>
          </a:xfrm>
          <a:prstGeom prst="rect">
            <a:avLst/>
          </a:prstGeom>
          <a:noFill/>
          <a:ln/>
        </p:spPr>
        <p:txBody>
          <a:bodyPr wrap="none" lIns="0" tIns="0" rIns="0" bIns="0" rtlCol="0" anchor="t"/>
          <a:lstStyle/>
          <a:p>
            <a:pPr marL="0" indent="0" algn="l">
              <a:lnSpc>
                <a:spcPts val="2500"/>
              </a:lnSpc>
              <a:buNone/>
            </a:pPr>
            <a:r>
              <a:rPr lang="en-US" sz="2000" dirty="0">
                <a:solidFill>
                  <a:srgbClr val="DCD7E5"/>
                </a:solidFill>
                <a:latin typeface="Montserrat" pitchFamily="34" charset="0"/>
                <a:ea typeface="Montserrat" pitchFamily="34" charset="-122"/>
                <a:cs typeface="Montserrat" pitchFamily="34" charset="-120"/>
              </a:rPr>
              <a:t>Frontend</a:t>
            </a:r>
            <a:endParaRPr lang="en-US" sz="2000" dirty="0"/>
          </a:p>
        </p:txBody>
      </p:sp>
      <p:sp>
        <p:nvSpPr>
          <p:cNvPr id="21" name="Text 15"/>
          <p:cNvSpPr/>
          <p:nvPr/>
        </p:nvSpPr>
        <p:spPr>
          <a:xfrm>
            <a:off x="7486174" y="5933003"/>
            <a:ext cx="1872139" cy="326469"/>
          </a:xfrm>
          <a:prstGeom prst="rect">
            <a:avLst/>
          </a:prstGeom>
          <a:noFill/>
          <a:ln/>
        </p:spPr>
        <p:txBody>
          <a:bodyPr wrap="non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React, Streamlit, MUI</a:t>
            </a:r>
            <a:endParaRPr lang="en-US" sz="1600" dirty="0"/>
          </a:p>
        </p:txBody>
      </p:sp>
      <p:sp>
        <p:nvSpPr>
          <p:cNvPr id="22" name="Text 16"/>
          <p:cNvSpPr/>
          <p:nvPr/>
        </p:nvSpPr>
        <p:spPr>
          <a:xfrm>
            <a:off x="714256" y="6693098"/>
            <a:ext cx="13201888" cy="979408"/>
          </a:xfrm>
          <a:prstGeom prst="rect">
            <a:avLst/>
          </a:prstGeom>
          <a:noFill/>
          <a:ln/>
        </p:spPr>
        <p:txBody>
          <a:bodyPr wrap="square" lIns="0" tIns="0" rIns="0" bIns="0" rtlCol="0" anchor="t"/>
          <a:lstStyle/>
          <a:p>
            <a:pPr marL="0" indent="0">
              <a:lnSpc>
                <a:spcPts val="2550"/>
              </a:lnSpc>
              <a:buNone/>
            </a:pPr>
            <a:r>
              <a:rPr lang="en-US" sz="1600" dirty="0">
                <a:solidFill>
                  <a:srgbClr val="DCD7E5"/>
                </a:solidFill>
                <a:latin typeface="Heebo Light" pitchFamily="34" charset="0"/>
                <a:ea typeface="Heebo Light" pitchFamily="34" charset="-122"/>
                <a:cs typeface="Heebo Light" pitchFamily="34" charset="-120"/>
              </a:rPr>
              <a:t>This pyramid illustrates the evolution of my technical stack during the internship. The foundation was laid with fundamental programming languages and databases. I then progressed to exploring various LLM technologies, leveraging frameworks and tools to build practical applications. The final layer focuses on the frontend development skills necessary to create user-friendly interfaces.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185511"/>
            <a:ext cx="13042821" cy="1417558"/>
          </a:xfrm>
          <a:prstGeom prst="rect">
            <a:avLst/>
          </a:prstGeom>
          <a:noFill/>
          <a:ln/>
        </p:spPr>
        <p:txBody>
          <a:bodyPr wrap="square" lIns="0" tIns="0" rIns="0" bIns="0" rtlCol="0" anchor="t"/>
          <a:lstStyle/>
          <a:p>
            <a:pPr marL="0" indent="0">
              <a:lnSpc>
                <a:spcPts val="5550"/>
              </a:lnSpc>
              <a:buNone/>
            </a:pPr>
            <a:r>
              <a:rPr lang="en-US" sz="4450" dirty="0">
                <a:solidFill>
                  <a:srgbClr val="F2F0F4"/>
                </a:solidFill>
                <a:latin typeface="Montserrat" pitchFamily="34" charset="0"/>
                <a:ea typeface="Montserrat" pitchFamily="34" charset="-122"/>
                <a:cs typeface="Montserrat" pitchFamily="34" charset="-120"/>
              </a:rPr>
              <a:t>Project Milestones: Demonstrating Practical Application</a:t>
            </a:r>
            <a:endParaRPr lang="en-US" sz="4450" dirty="0"/>
          </a:p>
        </p:txBody>
      </p:sp>
      <p:sp>
        <p:nvSpPr>
          <p:cNvPr id="3" name="Text 1"/>
          <p:cNvSpPr/>
          <p:nvPr/>
        </p:nvSpPr>
        <p:spPr>
          <a:xfrm>
            <a:off x="793790" y="4170045"/>
            <a:ext cx="3608189" cy="354330"/>
          </a:xfrm>
          <a:prstGeom prst="rect">
            <a:avLst/>
          </a:prstGeom>
          <a:noFill/>
          <a:ln/>
        </p:spPr>
        <p:txBody>
          <a:bodyPr wrap="none" lIns="0" tIns="0" rIns="0" bIns="0" rtlCol="0" anchor="t"/>
          <a:lstStyle/>
          <a:p>
            <a:pPr marL="0" indent="0">
              <a:lnSpc>
                <a:spcPts val="2750"/>
              </a:lnSpc>
              <a:buNone/>
            </a:pPr>
            <a:r>
              <a:rPr lang="en-US" sz="2200" dirty="0">
                <a:solidFill>
                  <a:srgbClr val="F2F0F4"/>
                </a:solidFill>
                <a:latin typeface="Montserrat" pitchFamily="34" charset="0"/>
                <a:ea typeface="Montserrat" pitchFamily="34" charset="-122"/>
                <a:cs typeface="Montserrat" pitchFamily="34" charset="-120"/>
              </a:rPr>
              <a:t>Multi-Document Chatbot</a:t>
            </a:r>
            <a:endParaRPr lang="en-US" sz="2200" dirty="0"/>
          </a:p>
        </p:txBody>
      </p:sp>
      <p:sp>
        <p:nvSpPr>
          <p:cNvPr id="4" name="Text 2"/>
          <p:cNvSpPr/>
          <p:nvPr/>
        </p:nvSpPr>
        <p:spPr>
          <a:xfrm>
            <a:off x="793790" y="4751189"/>
            <a:ext cx="6244709" cy="1088708"/>
          </a:xfrm>
          <a:prstGeom prst="rect">
            <a:avLst/>
          </a:prstGeom>
          <a:noFill/>
          <a:ln/>
        </p:spPr>
        <p:txBody>
          <a:bodyPr wrap="square" lIns="0" tIns="0" rIns="0" bIns="0" rtlCol="0" anchor="t"/>
          <a:lstStyle/>
          <a:p>
            <a:pPr marL="0" indent="0">
              <a:lnSpc>
                <a:spcPts val="2850"/>
              </a:lnSpc>
              <a:buNone/>
            </a:pPr>
            <a:r>
              <a:rPr lang="en-US" sz="1750" dirty="0">
                <a:solidFill>
                  <a:srgbClr val="DCD7E5"/>
                </a:solidFill>
                <a:latin typeface="Heebo Light" pitchFamily="34" charset="0"/>
                <a:ea typeface="Heebo Light" pitchFamily="34" charset="-122"/>
                <a:cs typeface="Heebo Light" pitchFamily="34" charset="-120"/>
              </a:rPr>
              <a:t>The first project involved building a multi-document chatbot capable of providing comprehensive answers to complex queries. </a:t>
            </a:r>
            <a:endParaRPr lang="en-US" sz="1750" dirty="0"/>
          </a:p>
        </p:txBody>
      </p:sp>
      <p:sp>
        <p:nvSpPr>
          <p:cNvPr id="5" name="Text 3"/>
          <p:cNvSpPr/>
          <p:nvPr/>
        </p:nvSpPr>
        <p:spPr>
          <a:xfrm>
            <a:off x="7599521" y="4170045"/>
            <a:ext cx="3516987" cy="354330"/>
          </a:xfrm>
          <a:prstGeom prst="rect">
            <a:avLst/>
          </a:prstGeom>
          <a:noFill/>
          <a:ln/>
        </p:spPr>
        <p:txBody>
          <a:bodyPr wrap="none" lIns="0" tIns="0" rIns="0" bIns="0" rtlCol="0" anchor="t"/>
          <a:lstStyle/>
          <a:p>
            <a:pPr marL="0" indent="0">
              <a:lnSpc>
                <a:spcPts val="2750"/>
              </a:lnSpc>
              <a:buNone/>
            </a:pPr>
            <a:r>
              <a:rPr lang="en-US" sz="2200" dirty="0">
                <a:solidFill>
                  <a:srgbClr val="F2F0F4"/>
                </a:solidFill>
                <a:latin typeface="Montserrat" pitchFamily="34" charset="0"/>
                <a:ea typeface="Montserrat" pitchFamily="34" charset="-122"/>
                <a:cs typeface="Montserrat" pitchFamily="34" charset="-120"/>
              </a:rPr>
              <a:t>KlariFAI Clone - on going</a:t>
            </a:r>
            <a:endParaRPr lang="en-US" sz="2200" dirty="0"/>
          </a:p>
        </p:txBody>
      </p:sp>
      <p:sp>
        <p:nvSpPr>
          <p:cNvPr id="6" name="Text 4"/>
          <p:cNvSpPr/>
          <p:nvPr/>
        </p:nvSpPr>
        <p:spPr>
          <a:xfrm>
            <a:off x="7599521" y="4751189"/>
            <a:ext cx="6244709" cy="362903"/>
          </a:xfrm>
          <a:prstGeom prst="rect">
            <a:avLst/>
          </a:prstGeom>
          <a:noFill/>
          <a:ln/>
        </p:spPr>
        <p:txBody>
          <a:bodyPr wrap="none" lIns="0" tIns="0" rIns="0" bIns="0" rtlCol="0" anchor="t"/>
          <a:lstStyle/>
          <a:p>
            <a:pPr marL="0" indent="0">
              <a:lnSpc>
                <a:spcPts val="2850"/>
              </a:lnSpc>
              <a:buNone/>
            </a:pPr>
            <a:r>
              <a:rPr lang="en-US" sz="1750" dirty="0">
                <a:solidFill>
                  <a:srgbClr val="DCD7E5"/>
                </a:solidFill>
                <a:latin typeface="Heebo Light" pitchFamily="34" charset="0"/>
                <a:ea typeface="Heebo Light" pitchFamily="34" charset="-122"/>
                <a:cs typeface="Heebo Light" pitchFamily="34" charset="-120"/>
              </a:rPr>
              <a:t>The second project involved building a clone of KlariFAI.</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31627" y="496848"/>
            <a:ext cx="7617857" cy="563999"/>
          </a:xfrm>
          <a:prstGeom prst="rect">
            <a:avLst/>
          </a:prstGeom>
          <a:noFill/>
          <a:ln/>
        </p:spPr>
        <p:txBody>
          <a:bodyPr wrap="none" lIns="0" tIns="0" rIns="0" bIns="0" rtlCol="0" anchor="t"/>
          <a:lstStyle/>
          <a:p>
            <a:pPr marL="0" indent="0">
              <a:lnSpc>
                <a:spcPts val="4400"/>
              </a:lnSpc>
              <a:buNone/>
            </a:pPr>
            <a:r>
              <a:rPr lang="en-US" sz="3550" dirty="0">
                <a:solidFill>
                  <a:srgbClr val="F2F0F4"/>
                </a:solidFill>
                <a:latin typeface="Montserrat" pitchFamily="34" charset="0"/>
                <a:ea typeface="Montserrat" pitchFamily="34" charset="-122"/>
                <a:cs typeface="Montserrat" pitchFamily="34" charset="-120"/>
              </a:rPr>
              <a:t>Technical Implementation Details</a:t>
            </a:r>
            <a:endParaRPr lang="en-US" sz="3550" dirty="0"/>
          </a:p>
        </p:txBody>
      </p:sp>
      <p:pic>
        <p:nvPicPr>
          <p:cNvPr id="3" name="Image 0" descr="preencoded.png"/>
          <p:cNvPicPr>
            <a:picLocks noChangeAspect="1"/>
          </p:cNvPicPr>
          <p:nvPr/>
        </p:nvPicPr>
        <p:blipFill>
          <a:blip r:embed="rId3"/>
          <a:stretch>
            <a:fillRect/>
          </a:stretch>
        </p:blipFill>
        <p:spPr>
          <a:xfrm>
            <a:off x="631627" y="1421725"/>
            <a:ext cx="902375" cy="2609493"/>
          </a:xfrm>
          <a:prstGeom prst="rect">
            <a:avLst/>
          </a:prstGeom>
        </p:spPr>
      </p:pic>
      <p:sp>
        <p:nvSpPr>
          <p:cNvPr id="4" name="Text 1"/>
          <p:cNvSpPr/>
          <p:nvPr/>
        </p:nvSpPr>
        <p:spPr>
          <a:xfrm>
            <a:off x="1804630" y="1602105"/>
            <a:ext cx="3499842" cy="281940"/>
          </a:xfrm>
          <a:prstGeom prst="rect">
            <a:avLst/>
          </a:prstGeom>
          <a:noFill/>
          <a:ln/>
        </p:spPr>
        <p:txBody>
          <a:bodyPr wrap="none" lIns="0" tIns="0" rIns="0" bIns="0" rtlCol="0" anchor="t"/>
          <a:lstStyle/>
          <a:p>
            <a:pPr marL="0" indent="0" algn="l">
              <a:lnSpc>
                <a:spcPts val="2200"/>
              </a:lnSpc>
              <a:buNone/>
            </a:pPr>
            <a:r>
              <a:rPr lang="en-US" sz="1750" dirty="0">
                <a:solidFill>
                  <a:srgbClr val="DCD7E5"/>
                </a:solidFill>
                <a:latin typeface="Montserrat" pitchFamily="34" charset="0"/>
                <a:ea typeface="Montserrat" pitchFamily="34" charset="-122"/>
                <a:cs typeface="Montserrat" pitchFamily="34" charset="-120"/>
              </a:rPr>
              <a:t>Document Processing Pipeline</a:t>
            </a:r>
            <a:endParaRPr lang="en-US" sz="1750" dirty="0"/>
          </a:p>
        </p:txBody>
      </p:sp>
      <p:sp>
        <p:nvSpPr>
          <p:cNvPr id="5" name="Text 2"/>
          <p:cNvSpPr/>
          <p:nvPr/>
        </p:nvSpPr>
        <p:spPr>
          <a:xfrm>
            <a:off x="1804630" y="1992273"/>
            <a:ext cx="12194143" cy="577453"/>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DCD7E5"/>
                </a:solidFill>
                <a:latin typeface="Heebo Light" pitchFamily="34" charset="0"/>
                <a:ea typeface="Heebo Light" pitchFamily="34" charset="-122"/>
                <a:cs typeface="Heebo Light" pitchFamily="34" charset="-120"/>
              </a:rPr>
              <a:t>Input Handling</a:t>
            </a:r>
            <a:r>
              <a:rPr lang="en-US" sz="1400" dirty="0">
                <a:solidFill>
                  <a:srgbClr val="DCD7E5"/>
                </a:solidFill>
                <a:latin typeface="Heebo Light" pitchFamily="34" charset="0"/>
                <a:ea typeface="Heebo Light" pitchFamily="34" charset="-122"/>
                <a:cs typeface="Heebo Light" pitchFamily="34" charset="-120"/>
              </a:rPr>
              <a:t>:
Raw data is received and preprocessed to ensure compatibility with various file formats, preparing it for further steps.</a:t>
            </a:r>
            <a:endParaRPr lang="en-US" sz="1400" dirty="0"/>
          </a:p>
        </p:txBody>
      </p:sp>
      <p:sp>
        <p:nvSpPr>
          <p:cNvPr id="6" name="Text 3"/>
          <p:cNvSpPr/>
          <p:nvPr/>
        </p:nvSpPr>
        <p:spPr>
          <a:xfrm>
            <a:off x="1804630" y="2632829"/>
            <a:ext cx="12194143" cy="577453"/>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DCD7E5"/>
                </a:solidFill>
                <a:latin typeface="Heebo Light" pitchFamily="34" charset="0"/>
                <a:ea typeface="Heebo Light" pitchFamily="34" charset="-122"/>
                <a:cs typeface="Heebo Light" pitchFamily="34" charset="-120"/>
              </a:rPr>
              <a:t>Text Extraction</a:t>
            </a:r>
            <a:r>
              <a:rPr lang="en-US" sz="1400" dirty="0">
                <a:solidFill>
                  <a:srgbClr val="DCD7E5"/>
                </a:solidFill>
                <a:latin typeface="Heebo Light" pitchFamily="34" charset="0"/>
                <a:ea typeface="Heebo Light" pitchFamily="34" charset="-122"/>
                <a:cs typeface="Heebo Light" pitchFamily="34" charset="-120"/>
              </a:rPr>
              <a:t>:
Relevant text is parsed and extracted from the uploaded documents, focusing on essential information while filtering out irrelevant content.</a:t>
            </a:r>
            <a:endParaRPr lang="en-US" sz="1400" dirty="0"/>
          </a:p>
        </p:txBody>
      </p:sp>
      <p:sp>
        <p:nvSpPr>
          <p:cNvPr id="7" name="Text 4"/>
          <p:cNvSpPr/>
          <p:nvPr/>
        </p:nvSpPr>
        <p:spPr>
          <a:xfrm>
            <a:off x="1804630" y="3273385"/>
            <a:ext cx="12194143" cy="577453"/>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DCD7E5"/>
                </a:solidFill>
                <a:latin typeface="Heebo Light" pitchFamily="34" charset="0"/>
                <a:ea typeface="Heebo Light" pitchFamily="34" charset="-122"/>
                <a:cs typeface="Heebo Light" pitchFamily="34" charset="-120"/>
              </a:rPr>
              <a:t>Chunking Strategy</a:t>
            </a:r>
            <a:r>
              <a:rPr lang="en-US" sz="1400" dirty="0">
                <a:solidFill>
                  <a:srgbClr val="DCD7E5"/>
                </a:solidFill>
                <a:latin typeface="Heebo Light" pitchFamily="34" charset="0"/>
                <a:ea typeface="Heebo Light" pitchFamily="34" charset="-122"/>
                <a:cs typeface="Heebo Light" pitchFamily="34" charset="-120"/>
              </a:rPr>
              <a:t>:
Extracted text is divided into smaller, manageable segments, enabling efficient analysis, indexing, and retrieval.</a:t>
            </a:r>
            <a:endParaRPr lang="en-US" sz="1400" dirty="0"/>
          </a:p>
        </p:txBody>
      </p:sp>
      <p:pic>
        <p:nvPicPr>
          <p:cNvPr id="8" name="Image 1" descr="preencoded.png"/>
          <p:cNvPicPr>
            <a:picLocks noChangeAspect="1"/>
          </p:cNvPicPr>
          <p:nvPr/>
        </p:nvPicPr>
        <p:blipFill>
          <a:blip r:embed="rId4"/>
          <a:stretch>
            <a:fillRect/>
          </a:stretch>
        </p:blipFill>
        <p:spPr>
          <a:xfrm>
            <a:off x="631627" y="4031218"/>
            <a:ext cx="902375" cy="2257663"/>
          </a:xfrm>
          <a:prstGeom prst="rect">
            <a:avLst/>
          </a:prstGeom>
        </p:spPr>
      </p:pic>
      <p:sp>
        <p:nvSpPr>
          <p:cNvPr id="9" name="Text 5"/>
          <p:cNvSpPr/>
          <p:nvPr/>
        </p:nvSpPr>
        <p:spPr>
          <a:xfrm>
            <a:off x="1804630" y="4211598"/>
            <a:ext cx="3687961" cy="281940"/>
          </a:xfrm>
          <a:prstGeom prst="rect">
            <a:avLst/>
          </a:prstGeom>
          <a:noFill/>
          <a:ln/>
        </p:spPr>
        <p:txBody>
          <a:bodyPr wrap="none" lIns="0" tIns="0" rIns="0" bIns="0" rtlCol="0" anchor="t"/>
          <a:lstStyle/>
          <a:p>
            <a:pPr marL="0" indent="0" algn="l">
              <a:lnSpc>
                <a:spcPts val="2200"/>
              </a:lnSpc>
              <a:buNone/>
            </a:pPr>
            <a:r>
              <a:rPr lang="en-US" sz="1750" dirty="0">
                <a:solidFill>
                  <a:srgbClr val="DCD7E5"/>
                </a:solidFill>
                <a:latin typeface="Montserrat" pitchFamily="34" charset="0"/>
                <a:ea typeface="Montserrat" pitchFamily="34" charset="-122"/>
                <a:cs typeface="Montserrat" pitchFamily="34" charset="-120"/>
              </a:rPr>
              <a:t>Vector Embedding Optimization</a:t>
            </a:r>
            <a:endParaRPr lang="en-US" sz="1750" dirty="0"/>
          </a:p>
        </p:txBody>
      </p:sp>
      <p:sp>
        <p:nvSpPr>
          <p:cNvPr id="10" name="Text 6"/>
          <p:cNvSpPr/>
          <p:nvPr/>
        </p:nvSpPr>
        <p:spPr>
          <a:xfrm>
            <a:off x="1804630" y="4601766"/>
            <a:ext cx="12194143" cy="866180"/>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DCD7E5"/>
                </a:solidFill>
                <a:latin typeface="Heebo Light" pitchFamily="34" charset="0"/>
                <a:ea typeface="Heebo Light" pitchFamily="34" charset="-122"/>
                <a:cs typeface="Heebo Light" pitchFamily="34" charset="-120"/>
              </a:rPr>
              <a:t>Model Selection</a:t>
            </a:r>
            <a:r>
              <a:rPr lang="en-US" sz="1400" dirty="0">
                <a:solidFill>
                  <a:srgbClr val="DCD7E5"/>
                </a:solidFill>
                <a:latin typeface="Heebo Light" pitchFamily="34" charset="0"/>
                <a:ea typeface="Heebo Light" pitchFamily="34" charset="-122"/>
                <a:cs typeface="Heebo Light" pitchFamily="34" charset="-120"/>
              </a:rPr>
              <a:t>:
A suitable embedding model, like Groq LLM, is chosen to convert text chunks into numerical vectors, ensuring semantic meaning is effectively captured for accurate retrieval.</a:t>
            </a:r>
            <a:endParaRPr lang="en-US" sz="1400" dirty="0"/>
          </a:p>
        </p:txBody>
      </p:sp>
      <p:sp>
        <p:nvSpPr>
          <p:cNvPr id="11" name="Text 7"/>
          <p:cNvSpPr/>
          <p:nvPr/>
        </p:nvSpPr>
        <p:spPr>
          <a:xfrm>
            <a:off x="1804630" y="5531048"/>
            <a:ext cx="12194143" cy="577453"/>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DCD7E5"/>
                </a:solidFill>
                <a:latin typeface="Heebo Light" pitchFamily="34" charset="0"/>
                <a:ea typeface="Heebo Light" pitchFamily="34" charset="-122"/>
                <a:cs typeface="Heebo Light" pitchFamily="34" charset="-120"/>
              </a:rPr>
              <a:t>Batch Processing</a:t>
            </a:r>
            <a:r>
              <a:rPr lang="en-US" sz="1400" dirty="0">
                <a:solidFill>
                  <a:srgbClr val="DCD7E5"/>
                </a:solidFill>
                <a:latin typeface="Heebo Light" pitchFamily="34" charset="0"/>
                <a:ea typeface="Heebo Light" pitchFamily="34" charset="-122"/>
                <a:cs typeface="Heebo Light" pitchFamily="34" charset="-120"/>
              </a:rPr>
              <a:t>:
Text chunks are processed in batches to generate embeddings simultaneously, enhancing performance and scalability for large datasets.</a:t>
            </a:r>
            <a:endParaRPr lang="en-US" sz="1400" dirty="0"/>
          </a:p>
        </p:txBody>
      </p:sp>
      <p:pic>
        <p:nvPicPr>
          <p:cNvPr id="12" name="Image 2" descr="preencoded.png"/>
          <p:cNvPicPr>
            <a:picLocks noChangeAspect="1"/>
          </p:cNvPicPr>
          <p:nvPr/>
        </p:nvPicPr>
        <p:blipFill>
          <a:blip r:embed="rId5"/>
          <a:stretch>
            <a:fillRect/>
          </a:stretch>
        </p:blipFill>
        <p:spPr>
          <a:xfrm>
            <a:off x="631627" y="6288881"/>
            <a:ext cx="902375" cy="1443752"/>
          </a:xfrm>
          <a:prstGeom prst="rect">
            <a:avLst/>
          </a:prstGeom>
        </p:spPr>
      </p:pic>
      <p:sp>
        <p:nvSpPr>
          <p:cNvPr id="13" name="Text 8"/>
          <p:cNvSpPr/>
          <p:nvPr/>
        </p:nvSpPr>
        <p:spPr>
          <a:xfrm>
            <a:off x="1804630" y="6469261"/>
            <a:ext cx="2255877" cy="281940"/>
          </a:xfrm>
          <a:prstGeom prst="rect">
            <a:avLst/>
          </a:prstGeom>
          <a:noFill/>
          <a:ln/>
        </p:spPr>
        <p:txBody>
          <a:bodyPr wrap="none" lIns="0" tIns="0" rIns="0" bIns="0" rtlCol="0" anchor="t"/>
          <a:lstStyle/>
          <a:p>
            <a:pPr marL="0" indent="0" algn="l">
              <a:lnSpc>
                <a:spcPts val="2200"/>
              </a:lnSpc>
              <a:buNone/>
            </a:pPr>
            <a:r>
              <a:rPr lang="en-US" sz="1750" dirty="0">
                <a:solidFill>
                  <a:srgbClr val="DCD7E5"/>
                </a:solidFill>
                <a:latin typeface="Montserrat" pitchFamily="34" charset="0"/>
                <a:ea typeface="Montserrat" pitchFamily="34" charset="-122"/>
                <a:cs typeface="Montserrat" pitchFamily="34" charset="-120"/>
              </a:rPr>
              <a:t>Chatbot Interaction</a:t>
            </a:r>
            <a:endParaRPr lang="en-US" sz="1750" dirty="0"/>
          </a:p>
        </p:txBody>
      </p:sp>
      <p:sp>
        <p:nvSpPr>
          <p:cNvPr id="14" name="Text 9"/>
          <p:cNvSpPr/>
          <p:nvPr/>
        </p:nvSpPr>
        <p:spPr>
          <a:xfrm>
            <a:off x="1804630" y="6859429"/>
            <a:ext cx="12194143" cy="577453"/>
          </a:xfrm>
          <a:prstGeom prst="rect">
            <a:avLst/>
          </a:prstGeom>
          <a:noFill/>
          <a:ln/>
        </p:spPr>
        <p:txBody>
          <a:bodyPr wrap="square" lIns="0" tIns="0" rIns="0" bIns="0" rtlCol="0" anchor="t"/>
          <a:lstStyle/>
          <a:p>
            <a:pPr marL="0" indent="0" algn="l">
              <a:lnSpc>
                <a:spcPts val="2250"/>
              </a:lnSpc>
              <a:buNone/>
            </a:pPr>
            <a:r>
              <a:rPr lang="en-US" sz="1400" dirty="0">
                <a:solidFill>
                  <a:srgbClr val="DCD7E5"/>
                </a:solidFill>
                <a:latin typeface="Heebo Light" pitchFamily="34" charset="0"/>
                <a:ea typeface="Heebo Light" pitchFamily="34" charset="-122"/>
                <a:cs typeface="Heebo Light" pitchFamily="34" charset="-120"/>
              </a:rPr>
              <a:t>User queries are processed and transformed into vector representations. The vector database is then queried to retrieve relevant chunks, providing context-aware answers.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859756"/>
            <a:ext cx="9082445" cy="708779"/>
          </a:xfrm>
          <a:prstGeom prst="rect">
            <a:avLst/>
          </a:prstGeom>
          <a:noFill/>
          <a:ln/>
        </p:spPr>
        <p:txBody>
          <a:bodyPr wrap="none" lIns="0" tIns="0" rIns="0" bIns="0" rtlCol="0" anchor="t"/>
          <a:lstStyle/>
          <a:p>
            <a:pPr marL="0" indent="0">
              <a:lnSpc>
                <a:spcPts val="5550"/>
              </a:lnSpc>
              <a:buNone/>
            </a:pPr>
            <a:r>
              <a:rPr lang="en-US" sz="4450" dirty="0">
                <a:solidFill>
                  <a:srgbClr val="F2F0F4"/>
                </a:solidFill>
                <a:latin typeface="Montserrat" pitchFamily="34" charset="0"/>
                <a:ea typeface="Montserrat" pitchFamily="34" charset="-122"/>
                <a:cs typeface="Montserrat" pitchFamily="34" charset="-120"/>
              </a:rPr>
              <a:t>Technical Challenges Overcome</a:t>
            </a:r>
            <a:endParaRPr lang="en-US" sz="4450" dirty="0"/>
          </a:p>
        </p:txBody>
      </p:sp>
      <p:sp>
        <p:nvSpPr>
          <p:cNvPr id="3" name="Text 1"/>
          <p:cNvSpPr/>
          <p:nvPr/>
        </p:nvSpPr>
        <p:spPr>
          <a:xfrm>
            <a:off x="793790" y="3135511"/>
            <a:ext cx="2835235" cy="354330"/>
          </a:xfrm>
          <a:prstGeom prst="rect">
            <a:avLst/>
          </a:prstGeom>
          <a:noFill/>
          <a:ln/>
        </p:spPr>
        <p:txBody>
          <a:bodyPr wrap="none" lIns="0" tIns="0" rIns="0" bIns="0" rtlCol="0" anchor="t"/>
          <a:lstStyle/>
          <a:p>
            <a:pPr marL="0" indent="0">
              <a:lnSpc>
                <a:spcPts val="2750"/>
              </a:lnSpc>
              <a:buNone/>
            </a:pPr>
            <a:r>
              <a:rPr lang="en-US" sz="2200" dirty="0">
                <a:solidFill>
                  <a:srgbClr val="F2F0F4"/>
                </a:solidFill>
                <a:latin typeface="Montserrat" pitchFamily="34" charset="0"/>
                <a:ea typeface="Montserrat" pitchFamily="34" charset="-122"/>
                <a:cs typeface="Montserrat" pitchFamily="34" charset="-120"/>
              </a:rPr>
              <a:t>Challenges</a:t>
            </a:r>
            <a:endParaRPr lang="en-US" sz="2200" dirty="0"/>
          </a:p>
        </p:txBody>
      </p:sp>
      <p:sp>
        <p:nvSpPr>
          <p:cNvPr id="4" name="Text 2"/>
          <p:cNvSpPr/>
          <p:nvPr/>
        </p:nvSpPr>
        <p:spPr>
          <a:xfrm>
            <a:off x="793790" y="3716655"/>
            <a:ext cx="6244709"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a:pPr>
            <a:r>
              <a:rPr lang="en-US" sz="1750" dirty="0">
                <a:solidFill>
                  <a:srgbClr val="DCD7E5"/>
                </a:solidFill>
                <a:latin typeface="Heebo Light" pitchFamily="34" charset="0"/>
                <a:ea typeface="Heebo Light" pitchFamily="34" charset="-122"/>
                <a:cs typeface="Heebo Light" pitchFamily="34" charset="-120"/>
              </a:rPr>
              <a:t>Large document handling</a:t>
            </a:r>
            <a:endParaRPr lang="en-US" sz="1750" dirty="0"/>
          </a:p>
        </p:txBody>
      </p:sp>
      <p:sp>
        <p:nvSpPr>
          <p:cNvPr id="5" name="Text 3"/>
          <p:cNvSpPr/>
          <p:nvPr/>
        </p:nvSpPr>
        <p:spPr>
          <a:xfrm>
            <a:off x="793790" y="4158853"/>
            <a:ext cx="6244709"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2"/>
            </a:pPr>
            <a:r>
              <a:rPr lang="en-US" sz="1750" dirty="0">
                <a:solidFill>
                  <a:srgbClr val="DCD7E5"/>
                </a:solidFill>
                <a:latin typeface="Heebo Light" pitchFamily="34" charset="0"/>
                <a:ea typeface="Heebo Light" pitchFamily="34" charset="-122"/>
                <a:cs typeface="Heebo Light" pitchFamily="34" charset="-120"/>
              </a:rPr>
              <a:t>Context relevance</a:t>
            </a:r>
            <a:endParaRPr lang="en-US" sz="1750" dirty="0"/>
          </a:p>
        </p:txBody>
      </p:sp>
      <p:sp>
        <p:nvSpPr>
          <p:cNvPr id="6" name="Text 4"/>
          <p:cNvSpPr/>
          <p:nvPr/>
        </p:nvSpPr>
        <p:spPr>
          <a:xfrm>
            <a:off x="793790" y="4601051"/>
            <a:ext cx="6244709"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3"/>
            </a:pPr>
            <a:r>
              <a:rPr lang="en-US" sz="1750" dirty="0">
                <a:solidFill>
                  <a:srgbClr val="DCD7E5"/>
                </a:solidFill>
                <a:latin typeface="Heebo Light" pitchFamily="34" charset="0"/>
                <a:ea typeface="Heebo Light" pitchFamily="34" charset="-122"/>
                <a:cs typeface="Heebo Light" pitchFamily="34" charset="-120"/>
              </a:rPr>
              <a:t>Response accuracy</a:t>
            </a:r>
            <a:endParaRPr lang="en-US" sz="1750" dirty="0"/>
          </a:p>
        </p:txBody>
      </p:sp>
      <p:sp>
        <p:nvSpPr>
          <p:cNvPr id="7" name="Text 5"/>
          <p:cNvSpPr/>
          <p:nvPr/>
        </p:nvSpPr>
        <p:spPr>
          <a:xfrm>
            <a:off x="793790" y="5043249"/>
            <a:ext cx="6244709"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4"/>
            </a:pPr>
            <a:r>
              <a:rPr lang="en-US" sz="1750" dirty="0">
                <a:solidFill>
                  <a:srgbClr val="DCD7E5"/>
                </a:solidFill>
                <a:latin typeface="Heebo Light" pitchFamily="34" charset="0"/>
                <a:ea typeface="Heebo Light" pitchFamily="34" charset="-122"/>
                <a:cs typeface="Heebo Light" pitchFamily="34" charset="-120"/>
              </a:rPr>
              <a:t>Integration complexity</a:t>
            </a:r>
            <a:endParaRPr lang="en-US" sz="1750" dirty="0"/>
          </a:p>
        </p:txBody>
      </p:sp>
      <p:sp>
        <p:nvSpPr>
          <p:cNvPr id="8" name="Text 6"/>
          <p:cNvSpPr/>
          <p:nvPr/>
        </p:nvSpPr>
        <p:spPr>
          <a:xfrm>
            <a:off x="793790" y="5485448"/>
            <a:ext cx="6244709"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5"/>
            </a:pPr>
            <a:r>
              <a:rPr lang="en-US" sz="1750" dirty="0">
                <a:solidFill>
                  <a:srgbClr val="DCD7E5"/>
                </a:solidFill>
                <a:latin typeface="Heebo Light" pitchFamily="34" charset="0"/>
                <a:ea typeface="Heebo Light" pitchFamily="34" charset="-122"/>
                <a:cs typeface="Heebo Light" pitchFamily="34" charset="-120"/>
              </a:rPr>
              <a:t>Summary generation</a:t>
            </a:r>
            <a:endParaRPr lang="en-US" sz="1750" dirty="0"/>
          </a:p>
        </p:txBody>
      </p:sp>
      <p:sp>
        <p:nvSpPr>
          <p:cNvPr id="9" name="Text 7"/>
          <p:cNvSpPr/>
          <p:nvPr/>
        </p:nvSpPr>
        <p:spPr>
          <a:xfrm>
            <a:off x="793790" y="5927646"/>
            <a:ext cx="6244709"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6"/>
            </a:pPr>
            <a:r>
              <a:rPr lang="en-US" sz="1750" dirty="0">
                <a:solidFill>
                  <a:srgbClr val="DCD7E5"/>
                </a:solidFill>
                <a:latin typeface="Heebo Light" pitchFamily="34" charset="0"/>
                <a:ea typeface="Heebo Light" pitchFamily="34" charset="-122"/>
                <a:cs typeface="Heebo Light" pitchFamily="34" charset="-120"/>
              </a:rPr>
              <a:t>Source citation accuracy</a:t>
            </a:r>
            <a:endParaRPr lang="en-US" sz="1750" dirty="0"/>
          </a:p>
        </p:txBody>
      </p:sp>
      <p:sp>
        <p:nvSpPr>
          <p:cNvPr id="10" name="Text 8"/>
          <p:cNvSpPr/>
          <p:nvPr/>
        </p:nvSpPr>
        <p:spPr>
          <a:xfrm>
            <a:off x="7599521" y="3135511"/>
            <a:ext cx="2835235" cy="354330"/>
          </a:xfrm>
          <a:prstGeom prst="rect">
            <a:avLst/>
          </a:prstGeom>
          <a:noFill/>
          <a:ln/>
        </p:spPr>
        <p:txBody>
          <a:bodyPr wrap="none" lIns="0" tIns="0" rIns="0" bIns="0" rtlCol="0" anchor="t"/>
          <a:lstStyle/>
          <a:p>
            <a:pPr marL="0" indent="0">
              <a:lnSpc>
                <a:spcPts val="2750"/>
              </a:lnSpc>
              <a:buNone/>
            </a:pPr>
            <a:r>
              <a:rPr lang="en-US" sz="2200" dirty="0">
                <a:solidFill>
                  <a:srgbClr val="F2F0F4"/>
                </a:solidFill>
                <a:latin typeface="Montserrat" pitchFamily="34" charset="0"/>
                <a:ea typeface="Montserrat" pitchFamily="34" charset="-122"/>
                <a:cs typeface="Montserrat" pitchFamily="34" charset="-120"/>
              </a:rPr>
              <a:t>Solutions</a:t>
            </a:r>
            <a:endParaRPr lang="en-US" sz="2200" dirty="0"/>
          </a:p>
        </p:txBody>
      </p:sp>
      <p:sp>
        <p:nvSpPr>
          <p:cNvPr id="11" name="Text 9"/>
          <p:cNvSpPr/>
          <p:nvPr/>
        </p:nvSpPr>
        <p:spPr>
          <a:xfrm>
            <a:off x="7599521" y="3716655"/>
            <a:ext cx="6244709"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a:pPr>
            <a:r>
              <a:rPr lang="en-US" sz="1750" dirty="0">
                <a:solidFill>
                  <a:srgbClr val="DCD7E5"/>
                </a:solidFill>
                <a:latin typeface="Heebo Light" pitchFamily="34" charset="0"/>
                <a:ea typeface="Heebo Light" pitchFamily="34" charset="-122"/>
                <a:cs typeface="Heebo Light" pitchFamily="34" charset="-120"/>
              </a:rPr>
              <a:t>Implemented chunk optimization strategies</a:t>
            </a:r>
            <a:endParaRPr lang="en-US" sz="1750" dirty="0"/>
          </a:p>
        </p:txBody>
      </p:sp>
      <p:sp>
        <p:nvSpPr>
          <p:cNvPr id="12" name="Text 10"/>
          <p:cNvSpPr/>
          <p:nvPr/>
        </p:nvSpPr>
        <p:spPr>
          <a:xfrm>
            <a:off x="7599521" y="4158853"/>
            <a:ext cx="6244709"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2"/>
            </a:pPr>
            <a:r>
              <a:rPr lang="en-US" sz="1750" dirty="0">
                <a:solidFill>
                  <a:srgbClr val="DCD7E5"/>
                </a:solidFill>
                <a:latin typeface="Heebo Light" pitchFamily="34" charset="0"/>
                <a:ea typeface="Heebo Light" pitchFamily="34" charset="-122"/>
                <a:cs typeface="Heebo Light" pitchFamily="34" charset="-120"/>
              </a:rPr>
              <a:t>Enhanced embedding strategy</a:t>
            </a:r>
            <a:endParaRPr lang="en-US" sz="1750" dirty="0"/>
          </a:p>
        </p:txBody>
      </p:sp>
      <p:sp>
        <p:nvSpPr>
          <p:cNvPr id="13" name="Text 11"/>
          <p:cNvSpPr/>
          <p:nvPr/>
        </p:nvSpPr>
        <p:spPr>
          <a:xfrm>
            <a:off x="7599521" y="4601051"/>
            <a:ext cx="6244709"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3"/>
            </a:pPr>
            <a:r>
              <a:rPr lang="en-US" sz="1750" dirty="0">
                <a:solidFill>
                  <a:srgbClr val="DCD7E5"/>
                </a:solidFill>
                <a:latin typeface="Heebo Light" pitchFamily="34" charset="0"/>
                <a:ea typeface="Heebo Light" pitchFamily="34" charset="-122"/>
                <a:cs typeface="Heebo Light" pitchFamily="34" charset="-120"/>
              </a:rPr>
              <a:t>Refined prompt engineering</a:t>
            </a:r>
            <a:endParaRPr lang="en-US" sz="1750" dirty="0"/>
          </a:p>
        </p:txBody>
      </p:sp>
      <p:sp>
        <p:nvSpPr>
          <p:cNvPr id="14" name="Text 12"/>
          <p:cNvSpPr/>
          <p:nvPr/>
        </p:nvSpPr>
        <p:spPr>
          <a:xfrm>
            <a:off x="7599521" y="5043249"/>
            <a:ext cx="6244709"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4"/>
            </a:pPr>
            <a:r>
              <a:rPr lang="en-US" sz="1750" dirty="0">
                <a:solidFill>
                  <a:srgbClr val="DCD7E5"/>
                </a:solidFill>
                <a:latin typeface="Heebo Light" pitchFamily="34" charset="0"/>
                <a:ea typeface="Heebo Light" pitchFamily="34" charset="-122"/>
                <a:cs typeface="Heebo Light" pitchFamily="34" charset="-120"/>
              </a:rPr>
              <a:t>Developed robust API layer</a:t>
            </a:r>
            <a:endParaRPr lang="en-US" sz="1750" dirty="0"/>
          </a:p>
        </p:txBody>
      </p:sp>
      <p:sp>
        <p:nvSpPr>
          <p:cNvPr id="15" name="Text 13"/>
          <p:cNvSpPr/>
          <p:nvPr/>
        </p:nvSpPr>
        <p:spPr>
          <a:xfrm>
            <a:off x="7599521" y="5485448"/>
            <a:ext cx="6244709"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5"/>
            </a:pPr>
            <a:r>
              <a:rPr lang="en-US" sz="1750" dirty="0">
                <a:solidFill>
                  <a:srgbClr val="DCD7E5"/>
                </a:solidFill>
                <a:latin typeface="Heebo Light" pitchFamily="34" charset="0"/>
                <a:ea typeface="Heebo Light" pitchFamily="34" charset="-122"/>
                <a:cs typeface="Heebo Light" pitchFamily="34" charset="-120"/>
              </a:rPr>
              <a:t>Advanced summary algorithms</a:t>
            </a:r>
            <a:endParaRPr lang="en-US" sz="1750" dirty="0"/>
          </a:p>
        </p:txBody>
      </p:sp>
      <p:sp>
        <p:nvSpPr>
          <p:cNvPr id="16" name="Text 14"/>
          <p:cNvSpPr/>
          <p:nvPr/>
        </p:nvSpPr>
        <p:spPr>
          <a:xfrm>
            <a:off x="7599521" y="5927646"/>
            <a:ext cx="6244709"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6"/>
            </a:pPr>
            <a:r>
              <a:rPr lang="en-US" sz="1750" dirty="0">
                <a:solidFill>
                  <a:srgbClr val="DCD7E5"/>
                </a:solidFill>
                <a:latin typeface="Heebo Light" pitchFamily="34" charset="0"/>
                <a:ea typeface="Heebo Light" pitchFamily="34" charset="-122"/>
                <a:cs typeface="Heebo Light" pitchFamily="34" charset="-120"/>
              </a:rPr>
              <a:t>Citation management system</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71644" y="782836"/>
            <a:ext cx="13087112" cy="1378029"/>
          </a:xfrm>
          <a:prstGeom prst="rect">
            <a:avLst/>
          </a:prstGeom>
          <a:noFill/>
          <a:ln/>
        </p:spPr>
        <p:txBody>
          <a:bodyPr wrap="square" lIns="0" tIns="0" rIns="0" bIns="0" rtlCol="0" anchor="t"/>
          <a:lstStyle/>
          <a:p>
            <a:pPr marL="0" indent="0">
              <a:lnSpc>
                <a:spcPts val="5400"/>
              </a:lnSpc>
              <a:buNone/>
            </a:pPr>
            <a:r>
              <a:rPr lang="en-US" sz="4300" dirty="0">
                <a:solidFill>
                  <a:srgbClr val="F2F0F4"/>
                </a:solidFill>
                <a:latin typeface="Montserrat" pitchFamily="34" charset="0"/>
                <a:ea typeface="Montserrat" pitchFamily="34" charset="-122"/>
                <a:cs typeface="Montserrat" pitchFamily="34" charset="-120"/>
              </a:rPr>
              <a:t>Skills Mastered: Building a Comprehensive Skillset</a:t>
            </a:r>
            <a:endParaRPr lang="en-US" sz="4300" dirty="0"/>
          </a:p>
        </p:txBody>
      </p:sp>
      <p:sp>
        <p:nvSpPr>
          <p:cNvPr id="3" name="Shape 1"/>
          <p:cNvSpPr/>
          <p:nvPr/>
        </p:nvSpPr>
        <p:spPr>
          <a:xfrm>
            <a:off x="771644" y="2849761"/>
            <a:ext cx="496014" cy="496014"/>
          </a:xfrm>
          <a:prstGeom prst="roundRect">
            <a:avLst>
              <a:gd name="adj" fmla="val 18671"/>
            </a:avLst>
          </a:prstGeom>
          <a:solidFill>
            <a:srgbClr val="31136C"/>
          </a:solidFill>
          <a:ln w="7620">
            <a:solidFill>
              <a:srgbClr val="4A2C85"/>
            </a:solidFill>
            <a:prstDash val="solid"/>
          </a:ln>
        </p:spPr>
        <p:txBody>
          <a:bodyPr/>
          <a:lstStyle/>
          <a:p>
            <a:endParaRPr lang="en-IN"/>
          </a:p>
        </p:txBody>
      </p:sp>
      <p:sp>
        <p:nvSpPr>
          <p:cNvPr id="4" name="Text 2"/>
          <p:cNvSpPr/>
          <p:nvPr/>
        </p:nvSpPr>
        <p:spPr>
          <a:xfrm>
            <a:off x="959882" y="2932390"/>
            <a:ext cx="119420" cy="330756"/>
          </a:xfrm>
          <a:prstGeom prst="rect">
            <a:avLst/>
          </a:prstGeom>
          <a:noFill/>
          <a:ln/>
        </p:spPr>
        <p:txBody>
          <a:bodyPr wrap="none" lIns="0" tIns="0" rIns="0" bIns="0" rtlCol="0" anchor="t"/>
          <a:lstStyle/>
          <a:p>
            <a:pPr marL="0" indent="0" algn="ctr">
              <a:lnSpc>
                <a:spcPts val="2600"/>
              </a:lnSpc>
              <a:buNone/>
            </a:pPr>
            <a:r>
              <a:rPr lang="en-US" sz="2600" dirty="0">
                <a:solidFill>
                  <a:srgbClr val="DCD7E5"/>
                </a:solidFill>
                <a:latin typeface="Montserrat" pitchFamily="34" charset="0"/>
                <a:ea typeface="Montserrat" pitchFamily="34" charset="-122"/>
                <a:cs typeface="Montserrat" pitchFamily="34" charset="-120"/>
              </a:rPr>
              <a:t>1</a:t>
            </a:r>
            <a:endParaRPr lang="en-US" sz="2600" dirty="0"/>
          </a:p>
        </p:txBody>
      </p:sp>
      <p:sp>
        <p:nvSpPr>
          <p:cNvPr id="5" name="Text 3"/>
          <p:cNvSpPr/>
          <p:nvPr/>
        </p:nvSpPr>
        <p:spPr>
          <a:xfrm>
            <a:off x="1488043" y="2849761"/>
            <a:ext cx="2940844" cy="344448"/>
          </a:xfrm>
          <a:prstGeom prst="rect">
            <a:avLst/>
          </a:prstGeom>
          <a:noFill/>
          <a:ln/>
        </p:spPr>
        <p:txBody>
          <a:bodyPr wrap="none" lIns="0" tIns="0" rIns="0" bIns="0" rtlCol="0" anchor="t"/>
          <a:lstStyle/>
          <a:p>
            <a:pPr marL="0" indent="0">
              <a:lnSpc>
                <a:spcPts val="2700"/>
              </a:lnSpc>
              <a:buNone/>
            </a:pPr>
            <a:r>
              <a:rPr lang="en-US" sz="2150" dirty="0">
                <a:solidFill>
                  <a:srgbClr val="DCD7E5"/>
                </a:solidFill>
                <a:latin typeface="Montserrat" pitchFamily="34" charset="0"/>
                <a:ea typeface="Montserrat" pitchFamily="34" charset="-122"/>
                <a:cs typeface="Montserrat" pitchFamily="34" charset="-120"/>
              </a:rPr>
              <a:t>RAG Implementation</a:t>
            </a:r>
            <a:endParaRPr lang="en-US" sz="2150" dirty="0"/>
          </a:p>
        </p:txBody>
      </p:sp>
      <p:sp>
        <p:nvSpPr>
          <p:cNvPr id="6" name="Text 4"/>
          <p:cNvSpPr/>
          <p:nvPr/>
        </p:nvSpPr>
        <p:spPr>
          <a:xfrm>
            <a:off x="1488043" y="3326487"/>
            <a:ext cx="5717024" cy="1763911"/>
          </a:xfrm>
          <a:prstGeom prst="rect">
            <a:avLst/>
          </a:prstGeom>
          <a:noFill/>
          <a:ln/>
        </p:spPr>
        <p:txBody>
          <a:bodyPr wrap="square" lIns="0" tIns="0" rIns="0" bIns="0" rtlCol="0" anchor="t"/>
          <a:lstStyle/>
          <a:p>
            <a:pPr marL="0" indent="0">
              <a:lnSpc>
                <a:spcPts val="2750"/>
              </a:lnSpc>
              <a:buNone/>
            </a:pPr>
            <a:r>
              <a:rPr lang="en-US" sz="1700" dirty="0">
                <a:solidFill>
                  <a:srgbClr val="DCD7E5"/>
                </a:solidFill>
                <a:latin typeface="Heebo Light" pitchFamily="34" charset="0"/>
                <a:ea typeface="Heebo Light" pitchFamily="34" charset="-122"/>
                <a:cs typeface="Heebo Light" pitchFamily="34" charset="-120"/>
              </a:rPr>
              <a:t>I gained practical experience with Retrieval Augmented Generation (RAG), a technique for enhancing LLM performance by integrating external knowledge sources. This involved building robust retrieval systems and fine-tuning LLMs to leverage retrieved information.</a:t>
            </a:r>
            <a:endParaRPr lang="en-US" sz="1700" dirty="0"/>
          </a:p>
        </p:txBody>
      </p:sp>
      <p:sp>
        <p:nvSpPr>
          <p:cNvPr id="7" name="Shape 5"/>
          <p:cNvSpPr/>
          <p:nvPr/>
        </p:nvSpPr>
        <p:spPr>
          <a:xfrm>
            <a:off x="7425452" y="2849761"/>
            <a:ext cx="496014" cy="496014"/>
          </a:xfrm>
          <a:prstGeom prst="roundRect">
            <a:avLst>
              <a:gd name="adj" fmla="val 18671"/>
            </a:avLst>
          </a:prstGeom>
          <a:solidFill>
            <a:srgbClr val="31136C"/>
          </a:solidFill>
          <a:ln w="7620">
            <a:solidFill>
              <a:srgbClr val="4A2C85"/>
            </a:solidFill>
            <a:prstDash val="solid"/>
          </a:ln>
        </p:spPr>
        <p:txBody>
          <a:bodyPr/>
          <a:lstStyle/>
          <a:p>
            <a:endParaRPr lang="en-IN"/>
          </a:p>
        </p:txBody>
      </p:sp>
      <p:sp>
        <p:nvSpPr>
          <p:cNvPr id="8" name="Text 6"/>
          <p:cNvSpPr/>
          <p:nvPr/>
        </p:nvSpPr>
        <p:spPr>
          <a:xfrm>
            <a:off x="7579519" y="2932390"/>
            <a:ext cx="187881" cy="330756"/>
          </a:xfrm>
          <a:prstGeom prst="rect">
            <a:avLst/>
          </a:prstGeom>
          <a:noFill/>
          <a:ln/>
        </p:spPr>
        <p:txBody>
          <a:bodyPr wrap="none" lIns="0" tIns="0" rIns="0" bIns="0" rtlCol="0" anchor="t"/>
          <a:lstStyle/>
          <a:p>
            <a:pPr marL="0" indent="0" algn="ctr">
              <a:lnSpc>
                <a:spcPts val="2600"/>
              </a:lnSpc>
              <a:buNone/>
            </a:pPr>
            <a:r>
              <a:rPr lang="en-US" sz="2600" dirty="0">
                <a:solidFill>
                  <a:srgbClr val="DCD7E5"/>
                </a:solidFill>
                <a:latin typeface="Montserrat" pitchFamily="34" charset="0"/>
                <a:ea typeface="Montserrat" pitchFamily="34" charset="-122"/>
                <a:cs typeface="Montserrat" pitchFamily="34" charset="-120"/>
              </a:rPr>
              <a:t>2</a:t>
            </a:r>
            <a:endParaRPr lang="en-US" sz="2600" dirty="0"/>
          </a:p>
        </p:txBody>
      </p:sp>
      <p:sp>
        <p:nvSpPr>
          <p:cNvPr id="9" name="Text 7"/>
          <p:cNvSpPr/>
          <p:nvPr/>
        </p:nvSpPr>
        <p:spPr>
          <a:xfrm>
            <a:off x="8141851" y="2849761"/>
            <a:ext cx="3374827" cy="344448"/>
          </a:xfrm>
          <a:prstGeom prst="rect">
            <a:avLst/>
          </a:prstGeom>
          <a:noFill/>
          <a:ln/>
        </p:spPr>
        <p:txBody>
          <a:bodyPr wrap="none" lIns="0" tIns="0" rIns="0" bIns="0" rtlCol="0" anchor="t"/>
          <a:lstStyle/>
          <a:p>
            <a:pPr marL="0" indent="0">
              <a:lnSpc>
                <a:spcPts val="2700"/>
              </a:lnSpc>
              <a:buNone/>
            </a:pPr>
            <a:r>
              <a:rPr lang="en-US" sz="2150" dirty="0">
                <a:solidFill>
                  <a:srgbClr val="DCD7E5"/>
                </a:solidFill>
                <a:latin typeface="Montserrat" pitchFamily="34" charset="0"/>
                <a:ea typeface="Montserrat" pitchFamily="34" charset="-122"/>
                <a:cs typeface="Montserrat" pitchFamily="34" charset="-120"/>
              </a:rPr>
              <a:t>Front-End Development</a:t>
            </a:r>
            <a:endParaRPr lang="en-US" sz="2150" dirty="0"/>
          </a:p>
        </p:txBody>
      </p:sp>
      <p:sp>
        <p:nvSpPr>
          <p:cNvPr id="10" name="Text 8"/>
          <p:cNvSpPr/>
          <p:nvPr/>
        </p:nvSpPr>
        <p:spPr>
          <a:xfrm>
            <a:off x="8141851" y="3326487"/>
            <a:ext cx="5717024" cy="1411129"/>
          </a:xfrm>
          <a:prstGeom prst="rect">
            <a:avLst/>
          </a:prstGeom>
          <a:noFill/>
          <a:ln/>
        </p:spPr>
        <p:txBody>
          <a:bodyPr wrap="square" lIns="0" tIns="0" rIns="0" bIns="0" rtlCol="0" anchor="t"/>
          <a:lstStyle/>
          <a:p>
            <a:pPr marL="0" indent="0">
              <a:lnSpc>
                <a:spcPts val="2750"/>
              </a:lnSpc>
              <a:buNone/>
            </a:pPr>
            <a:r>
              <a:rPr lang="en-US" sz="1700" dirty="0">
                <a:solidFill>
                  <a:srgbClr val="DCD7E5"/>
                </a:solidFill>
                <a:latin typeface="Heebo Light" pitchFamily="34" charset="0"/>
                <a:ea typeface="Heebo Light" pitchFamily="34" charset="-122"/>
                <a:cs typeface="Heebo Light" pitchFamily="34" charset="-120"/>
              </a:rPr>
              <a:t>I developed proficiency in front-end development, using frameworks like Streamlit to build interactive user interfaces for AI applications. This involved understanding UI/UX principles and creating intuitive user experiences.</a:t>
            </a:r>
            <a:endParaRPr lang="en-US" sz="1700" dirty="0"/>
          </a:p>
        </p:txBody>
      </p:sp>
      <p:sp>
        <p:nvSpPr>
          <p:cNvPr id="11" name="Shape 9"/>
          <p:cNvSpPr/>
          <p:nvPr/>
        </p:nvSpPr>
        <p:spPr>
          <a:xfrm>
            <a:off x="771644" y="5558790"/>
            <a:ext cx="496014" cy="496014"/>
          </a:xfrm>
          <a:prstGeom prst="roundRect">
            <a:avLst>
              <a:gd name="adj" fmla="val 18671"/>
            </a:avLst>
          </a:prstGeom>
          <a:solidFill>
            <a:srgbClr val="31136C"/>
          </a:solidFill>
          <a:ln w="7620">
            <a:solidFill>
              <a:srgbClr val="4A2C85"/>
            </a:solidFill>
            <a:prstDash val="solid"/>
          </a:ln>
        </p:spPr>
        <p:txBody>
          <a:bodyPr/>
          <a:lstStyle/>
          <a:p>
            <a:endParaRPr lang="en-IN"/>
          </a:p>
        </p:txBody>
      </p:sp>
      <p:sp>
        <p:nvSpPr>
          <p:cNvPr id="12" name="Text 10"/>
          <p:cNvSpPr/>
          <p:nvPr/>
        </p:nvSpPr>
        <p:spPr>
          <a:xfrm>
            <a:off x="926306" y="5641419"/>
            <a:ext cx="186571" cy="330756"/>
          </a:xfrm>
          <a:prstGeom prst="rect">
            <a:avLst/>
          </a:prstGeom>
          <a:noFill/>
          <a:ln/>
        </p:spPr>
        <p:txBody>
          <a:bodyPr wrap="none" lIns="0" tIns="0" rIns="0" bIns="0" rtlCol="0" anchor="t"/>
          <a:lstStyle/>
          <a:p>
            <a:pPr marL="0" indent="0" algn="ctr">
              <a:lnSpc>
                <a:spcPts val="2600"/>
              </a:lnSpc>
              <a:buNone/>
            </a:pPr>
            <a:r>
              <a:rPr lang="en-US" sz="2600" dirty="0">
                <a:solidFill>
                  <a:srgbClr val="DCD7E5"/>
                </a:solidFill>
                <a:latin typeface="Montserrat" pitchFamily="34" charset="0"/>
                <a:ea typeface="Montserrat" pitchFamily="34" charset="-122"/>
                <a:cs typeface="Montserrat" pitchFamily="34" charset="-120"/>
              </a:rPr>
              <a:t>3</a:t>
            </a:r>
            <a:endParaRPr lang="en-US" sz="2600" dirty="0"/>
          </a:p>
        </p:txBody>
      </p:sp>
      <p:sp>
        <p:nvSpPr>
          <p:cNvPr id="13" name="Text 11"/>
          <p:cNvSpPr/>
          <p:nvPr/>
        </p:nvSpPr>
        <p:spPr>
          <a:xfrm>
            <a:off x="1488043" y="5558790"/>
            <a:ext cx="2756178" cy="344448"/>
          </a:xfrm>
          <a:prstGeom prst="rect">
            <a:avLst/>
          </a:prstGeom>
          <a:noFill/>
          <a:ln/>
        </p:spPr>
        <p:txBody>
          <a:bodyPr wrap="none" lIns="0" tIns="0" rIns="0" bIns="0" rtlCol="0" anchor="t"/>
          <a:lstStyle/>
          <a:p>
            <a:pPr marL="0" indent="0">
              <a:lnSpc>
                <a:spcPts val="2700"/>
              </a:lnSpc>
              <a:buNone/>
            </a:pPr>
            <a:r>
              <a:rPr lang="en-US" sz="2150" dirty="0">
                <a:solidFill>
                  <a:srgbClr val="DCD7E5"/>
                </a:solidFill>
                <a:latin typeface="Montserrat" pitchFamily="34" charset="0"/>
                <a:ea typeface="Montserrat" pitchFamily="34" charset="-122"/>
                <a:cs typeface="Montserrat" pitchFamily="34" charset="-120"/>
              </a:rPr>
              <a:t>LLM Integrations</a:t>
            </a:r>
            <a:endParaRPr lang="en-US" sz="2150" dirty="0"/>
          </a:p>
        </p:txBody>
      </p:sp>
      <p:sp>
        <p:nvSpPr>
          <p:cNvPr id="14" name="Text 12"/>
          <p:cNvSpPr/>
          <p:nvPr/>
        </p:nvSpPr>
        <p:spPr>
          <a:xfrm>
            <a:off x="1488043" y="6035516"/>
            <a:ext cx="5717024" cy="1411129"/>
          </a:xfrm>
          <a:prstGeom prst="rect">
            <a:avLst/>
          </a:prstGeom>
          <a:noFill/>
          <a:ln/>
        </p:spPr>
        <p:txBody>
          <a:bodyPr wrap="square" lIns="0" tIns="0" rIns="0" bIns="0" rtlCol="0" anchor="t"/>
          <a:lstStyle/>
          <a:p>
            <a:pPr marL="0" indent="0">
              <a:lnSpc>
                <a:spcPts val="2750"/>
              </a:lnSpc>
              <a:buNone/>
            </a:pPr>
            <a:r>
              <a:rPr lang="en-US" sz="1700" dirty="0">
                <a:solidFill>
                  <a:srgbClr val="DCD7E5"/>
                </a:solidFill>
                <a:latin typeface="Heebo Light" pitchFamily="34" charset="0"/>
                <a:ea typeface="Heebo Light" pitchFamily="34" charset="-122"/>
                <a:cs typeface="Heebo Light" pitchFamily="34" charset="-120"/>
              </a:rPr>
              <a:t>I learned how to seamlessly integrate various LLMs like GPT-3, BERT, and others into different projects. This included choosing the right model for specific tasks, fine-tuning parameters, and managing API interactions.</a:t>
            </a:r>
            <a:endParaRPr lang="en-US" sz="1700" dirty="0"/>
          </a:p>
        </p:txBody>
      </p:sp>
      <p:sp>
        <p:nvSpPr>
          <p:cNvPr id="15" name="Shape 13"/>
          <p:cNvSpPr/>
          <p:nvPr/>
        </p:nvSpPr>
        <p:spPr>
          <a:xfrm>
            <a:off x="7425452" y="5558790"/>
            <a:ext cx="496014" cy="496014"/>
          </a:xfrm>
          <a:prstGeom prst="roundRect">
            <a:avLst>
              <a:gd name="adj" fmla="val 18671"/>
            </a:avLst>
          </a:prstGeom>
          <a:solidFill>
            <a:srgbClr val="31136C"/>
          </a:solidFill>
          <a:ln w="7620">
            <a:solidFill>
              <a:srgbClr val="4A2C85"/>
            </a:solidFill>
            <a:prstDash val="solid"/>
          </a:ln>
        </p:spPr>
        <p:txBody>
          <a:bodyPr/>
          <a:lstStyle/>
          <a:p>
            <a:endParaRPr lang="en-IN"/>
          </a:p>
        </p:txBody>
      </p:sp>
      <p:sp>
        <p:nvSpPr>
          <p:cNvPr id="16" name="Text 14"/>
          <p:cNvSpPr/>
          <p:nvPr/>
        </p:nvSpPr>
        <p:spPr>
          <a:xfrm>
            <a:off x="7564160" y="5641419"/>
            <a:ext cx="218599" cy="330756"/>
          </a:xfrm>
          <a:prstGeom prst="rect">
            <a:avLst/>
          </a:prstGeom>
          <a:noFill/>
          <a:ln/>
        </p:spPr>
        <p:txBody>
          <a:bodyPr wrap="none" lIns="0" tIns="0" rIns="0" bIns="0" rtlCol="0" anchor="t"/>
          <a:lstStyle/>
          <a:p>
            <a:pPr marL="0" indent="0" algn="ctr">
              <a:lnSpc>
                <a:spcPts val="2600"/>
              </a:lnSpc>
              <a:buNone/>
            </a:pPr>
            <a:r>
              <a:rPr lang="en-US" sz="2600" dirty="0">
                <a:solidFill>
                  <a:srgbClr val="DCD7E5"/>
                </a:solidFill>
                <a:latin typeface="Montserrat" pitchFamily="34" charset="0"/>
                <a:ea typeface="Montserrat" pitchFamily="34" charset="-122"/>
                <a:cs typeface="Montserrat" pitchFamily="34" charset="-120"/>
              </a:rPr>
              <a:t>4</a:t>
            </a:r>
            <a:endParaRPr lang="en-US" sz="2600" dirty="0"/>
          </a:p>
        </p:txBody>
      </p:sp>
      <p:sp>
        <p:nvSpPr>
          <p:cNvPr id="17" name="Text 15"/>
          <p:cNvSpPr/>
          <p:nvPr/>
        </p:nvSpPr>
        <p:spPr>
          <a:xfrm>
            <a:off x="8141851" y="5558790"/>
            <a:ext cx="4311015" cy="344448"/>
          </a:xfrm>
          <a:prstGeom prst="rect">
            <a:avLst/>
          </a:prstGeom>
          <a:noFill/>
          <a:ln/>
        </p:spPr>
        <p:txBody>
          <a:bodyPr wrap="none" lIns="0" tIns="0" rIns="0" bIns="0" rtlCol="0" anchor="t"/>
          <a:lstStyle/>
          <a:p>
            <a:pPr marL="0" indent="0">
              <a:lnSpc>
                <a:spcPts val="2700"/>
              </a:lnSpc>
              <a:buNone/>
            </a:pPr>
            <a:r>
              <a:rPr lang="en-US" sz="2150" dirty="0">
                <a:solidFill>
                  <a:srgbClr val="DCD7E5"/>
                </a:solidFill>
                <a:latin typeface="Montserrat" pitchFamily="34" charset="0"/>
                <a:ea typeface="Montserrat" pitchFamily="34" charset="-122"/>
                <a:cs typeface="Montserrat" pitchFamily="34" charset="-120"/>
              </a:rPr>
              <a:t>Data Handling &amp; Preprocessing</a:t>
            </a:r>
            <a:endParaRPr lang="en-US" sz="2150" dirty="0"/>
          </a:p>
        </p:txBody>
      </p:sp>
      <p:sp>
        <p:nvSpPr>
          <p:cNvPr id="18" name="Text 16"/>
          <p:cNvSpPr/>
          <p:nvPr/>
        </p:nvSpPr>
        <p:spPr>
          <a:xfrm>
            <a:off x="8141851" y="6035516"/>
            <a:ext cx="5717024" cy="1411129"/>
          </a:xfrm>
          <a:prstGeom prst="rect">
            <a:avLst/>
          </a:prstGeom>
          <a:noFill/>
          <a:ln/>
        </p:spPr>
        <p:txBody>
          <a:bodyPr wrap="square" lIns="0" tIns="0" rIns="0" bIns="0" rtlCol="0" anchor="t"/>
          <a:lstStyle/>
          <a:p>
            <a:pPr marL="0" indent="0">
              <a:lnSpc>
                <a:spcPts val="2750"/>
              </a:lnSpc>
              <a:buNone/>
            </a:pPr>
            <a:r>
              <a:rPr lang="en-US" sz="1700" dirty="0">
                <a:solidFill>
                  <a:srgbClr val="DCD7E5"/>
                </a:solidFill>
                <a:latin typeface="Heebo Light" pitchFamily="34" charset="0"/>
                <a:ea typeface="Heebo Light" pitchFamily="34" charset="-122"/>
                <a:cs typeface="Heebo Light" pitchFamily="34" charset="-120"/>
              </a:rPr>
              <a:t>I gained proficiency in data handling and preprocessing techniques, essential for preparing large datasets for AI models. This involved understanding data cleaning, feature engineering, and model-specific data transformations.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499122"/>
          </a:xfrm>
          <a:prstGeom prst="rect">
            <a:avLst/>
          </a:prstGeom>
        </p:spPr>
      </p:pic>
      <p:sp>
        <p:nvSpPr>
          <p:cNvPr id="3" name="Text 0"/>
          <p:cNvSpPr/>
          <p:nvPr/>
        </p:nvSpPr>
        <p:spPr>
          <a:xfrm>
            <a:off x="699730" y="3048833"/>
            <a:ext cx="13230939" cy="1249442"/>
          </a:xfrm>
          <a:prstGeom prst="rect">
            <a:avLst/>
          </a:prstGeom>
          <a:noFill/>
          <a:ln/>
        </p:spPr>
        <p:txBody>
          <a:bodyPr wrap="square" lIns="0" tIns="0" rIns="0" bIns="0" rtlCol="0" anchor="t"/>
          <a:lstStyle/>
          <a:p>
            <a:pPr marL="0" indent="0">
              <a:lnSpc>
                <a:spcPts val="4900"/>
              </a:lnSpc>
              <a:buNone/>
            </a:pPr>
            <a:r>
              <a:rPr lang="en-US" sz="3900" dirty="0">
                <a:solidFill>
                  <a:srgbClr val="F2F0F4"/>
                </a:solidFill>
                <a:latin typeface="Montserrat" pitchFamily="34" charset="0"/>
                <a:ea typeface="Montserrat" pitchFamily="34" charset="-122"/>
                <a:cs typeface="Montserrat" pitchFamily="34" charset="-120"/>
              </a:rPr>
              <a:t>Upcoming Focus: Expanding Horizons in Cloud &amp; DevOps</a:t>
            </a:r>
            <a:endParaRPr lang="en-US" sz="3900" dirty="0"/>
          </a:p>
        </p:txBody>
      </p:sp>
      <p:sp>
        <p:nvSpPr>
          <p:cNvPr id="4" name="Shape 1"/>
          <p:cNvSpPr/>
          <p:nvPr/>
        </p:nvSpPr>
        <p:spPr>
          <a:xfrm>
            <a:off x="699730" y="4598075"/>
            <a:ext cx="4277082" cy="3085862"/>
          </a:xfrm>
          <a:prstGeom prst="roundRect">
            <a:avLst>
              <a:gd name="adj" fmla="val 2721"/>
            </a:avLst>
          </a:prstGeom>
          <a:solidFill>
            <a:srgbClr val="31136C"/>
          </a:solidFill>
          <a:ln w="7620">
            <a:solidFill>
              <a:srgbClr val="4A2C85"/>
            </a:solidFill>
            <a:prstDash val="solid"/>
          </a:ln>
        </p:spPr>
        <p:txBody>
          <a:bodyPr/>
          <a:lstStyle/>
          <a:p>
            <a:endParaRPr lang="en-IN"/>
          </a:p>
        </p:txBody>
      </p:sp>
      <p:sp>
        <p:nvSpPr>
          <p:cNvPr id="5" name="Text 2"/>
          <p:cNvSpPr/>
          <p:nvPr/>
        </p:nvSpPr>
        <p:spPr>
          <a:xfrm>
            <a:off x="907256" y="4805601"/>
            <a:ext cx="2499122" cy="312301"/>
          </a:xfrm>
          <a:prstGeom prst="rect">
            <a:avLst/>
          </a:prstGeom>
          <a:noFill/>
          <a:ln/>
        </p:spPr>
        <p:txBody>
          <a:bodyPr wrap="none" lIns="0" tIns="0" rIns="0" bIns="0" rtlCol="0" anchor="t"/>
          <a:lstStyle/>
          <a:p>
            <a:pPr marL="0" indent="0">
              <a:lnSpc>
                <a:spcPts val="2450"/>
              </a:lnSpc>
              <a:buNone/>
            </a:pPr>
            <a:r>
              <a:rPr lang="en-US" sz="1950" dirty="0">
                <a:solidFill>
                  <a:srgbClr val="DCD7E5"/>
                </a:solidFill>
                <a:latin typeface="Montserrat" pitchFamily="34" charset="0"/>
                <a:ea typeface="Montserrat" pitchFamily="34" charset="-122"/>
                <a:cs typeface="Montserrat" pitchFamily="34" charset="-120"/>
              </a:rPr>
              <a:t>Cloud Platforms</a:t>
            </a:r>
            <a:endParaRPr lang="en-US" sz="1950" dirty="0"/>
          </a:p>
        </p:txBody>
      </p:sp>
      <p:sp>
        <p:nvSpPr>
          <p:cNvPr id="6" name="Text 3"/>
          <p:cNvSpPr/>
          <p:nvPr/>
        </p:nvSpPr>
        <p:spPr>
          <a:xfrm>
            <a:off x="907256" y="5237798"/>
            <a:ext cx="3862030" cy="1918811"/>
          </a:xfrm>
          <a:prstGeom prst="rect">
            <a:avLst/>
          </a:prstGeom>
          <a:noFill/>
          <a:ln/>
        </p:spPr>
        <p:txBody>
          <a:bodyPr wrap="square" lIns="0" tIns="0" rIns="0" bIns="0" rtlCol="0" anchor="t"/>
          <a:lstStyle/>
          <a:p>
            <a:pPr marL="0" indent="0">
              <a:lnSpc>
                <a:spcPts val="2500"/>
              </a:lnSpc>
              <a:buNone/>
            </a:pPr>
            <a:r>
              <a:rPr lang="en-US" sz="1550" dirty="0">
                <a:solidFill>
                  <a:srgbClr val="DCD7E5"/>
                </a:solidFill>
                <a:latin typeface="Heebo Light" pitchFamily="34" charset="0"/>
                <a:ea typeface="Heebo Light" pitchFamily="34" charset="-122"/>
                <a:cs typeface="Heebo Light" pitchFamily="34" charset="-120"/>
              </a:rPr>
              <a:t>I will be delving into cloud platforms like Azure, AWS, and GCP, exploring their capabilities for deploying and scaling AI applications. Understanding cloud infrastructure is crucial for building robust and scalable AI solutions.</a:t>
            </a:r>
            <a:endParaRPr lang="en-US" sz="1550" dirty="0"/>
          </a:p>
        </p:txBody>
      </p:sp>
      <p:sp>
        <p:nvSpPr>
          <p:cNvPr id="7" name="Shape 4"/>
          <p:cNvSpPr/>
          <p:nvPr/>
        </p:nvSpPr>
        <p:spPr>
          <a:xfrm>
            <a:off x="5176718" y="4598075"/>
            <a:ext cx="4277082" cy="3085862"/>
          </a:xfrm>
          <a:prstGeom prst="roundRect">
            <a:avLst>
              <a:gd name="adj" fmla="val 2721"/>
            </a:avLst>
          </a:prstGeom>
          <a:solidFill>
            <a:srgbClr val="31136C"/>
          </a:solidFill>
          <a:ln w="7620">
            <a:solidFill>
              <a:srgbClr val="4A2C85"/>
            </a:solidFill>
            <a:prstDash val="solid"/>
          </a:ln>
        </p:spPr>
        <p:txBody>
          <a:bodyPr/>
          <a:lstStyle/>
          <a:p>
            <a:endParaRPr lang="en-IN"/>
          </a:p>
        </p:txBody>
      </p:sp>
      <p:sp>
        <p:nvSpPr>
          <p:cNvPr id="8" name="Text 5"/>
          <p:cNvSpPr/>
          <p:nvPr/>
        </p:nvSpPr>
        <p:spPr>
          <a:xfrm>
            <a:off x="5384244" y="4805601"/>
            <a:ext cx="2499122" cy="312301"/>
          </a:xfrm>
          <a:prstGeom prst="rect">
            <a:avLst/>
          </a:prstGeom>
          <a:noFill/>
          <a:ln/>
        </p:spPr>
        <p:txBody>
          <a:bodyPr wrap="none" lIns="0" tIns="0" rIns="0" bIns="0" rtlCol="0" anchor="t"/>
          <a:lstStyle/>
          <a:p>
            <a:pPr marL="0" indent="0">
              <a:lnSpc>
                <a:spcPts val="2450"/>
              </a:lnSpc>
              <a:buNone/>
            </a:pPr>
            <a:r>
              <a:rPr lang="en-US" sz="1950" dirty="0">
                <a:solidFill>
                  <a:srgbClr val="DCD7E5"/>
                </a:solidFill>
                <a:latin typeface="Montserrat" pitchFamily="34" charset="0"/>
                <a:ea typeface="Montserrat" pitchFamily="34" charset="-122"/>
                <a:cs typeface="Montserrat" pitchFamily="34" charset="-120"/>
              </a:rPr>
              <a:t>DevOps Practices</a:t>
            </a:r>
            <a:endParaRPr lang="en-US" sz="1950" dirty="0"/>
          </a:p>
        </p:txBody>
      </p:sp>
      <p:sp>
        <p:nvSpPr>
          <p:cNvPr id="9" name="Text 6"/>
          <p:cNvSpPr/>
          <p:nvPr/>
        </p:nvSpPr>
        <p:spPr>
          <a:xfrm>
            <a:off x="5384244" y="5237798"/>
            <a:ext cx="3862030" cy="2238613"/>
          </a:xfrm>
          <a:prstGeom prst="rect">
            <a:avLst/>
          </a:prstGeom>
          <a:noFill/>
          <a:ln/>
        </p:spPr>
        <p:txBody>
          <a:bodyPr wrap="square" lIns="0" tIns="0" rIns="0" bIns="0" rtlCol="0" anchor="t"/>
          <a:lstStyle/>
          <a:p>
            <a:pPr marL="0" indent="0">
              <a:lnSpc>
                <a:spcPts val="2500"/>
              </a:lnSpc>
              <a:buNone/>
            </a:pPr>
            <a:r>
              <a:rPr lang="en-US" sz="1550" dirty="0">
                <a:solidFill>
                  <a:srgbClr val="DCD7E5"/>
                </a:solidFill>
                <a:latin typeface="Heebo Light" pitchFamily="34" charset="0"/>
                <a:ea typeface="Heebo Light" pitchFamily="34" charset="-122"/>
                <a:cs typeface="Heebo Light" pitchFamily="34" charset="-120"/>
              </a:rPr>
              <a:t>I will be implementing DevOps practices to streamline the development and deployment of AI applications. This will involve using tools for continuous integration and continuous delivery (CI/CD) to ensure efficient and reliable deployments.</a:t>
            </a:r>
            <a:endParaRPr lang="en-US" sz="1550" dirty="0"/>
          </a:p>
        </p:txBody>
      </p:sp>
      <p:sp>
        <p:nvSpPr>
          <p:cNvPr id="10" name="Shape 7"/>
          <p:cNvSpPr/>
          <p:nvPr/>
        </p:nvSpPr>
        <p:spPr>
          <a:xfrm>
            <a:off x="9653707" y="4598075"/>
            <a:ext cx="4277082" cy="3085862"/>
          </a:xfrm>
          <a:prstGeom prst="roundRect">
            <a:avLst>
              <a:gd name="adj" fmla="val 2721"/>
            </a:avLst>
          </a:prstGeom>
          <a:solidFill>
            <a:srgbClr val="31136C"/>
          </a:solidFill>
          <a:ln w="7620">
            <a:solidFill>
              <a:srgbClr val="4A2C85"/>
            </a:solidFill>
            <a:prstDash val="solid"/>
          </a:ln>
        </p:spPr>
        <p:txBody>
          <a:bodyPr/>
          <a:lstStyle/>
          <a:p>
            <a:endParaRPr lang="en-IN"/>
          </a:p>
        </p:txBody>
      </p:sp>
      <p:sp>
        <p:nvSpPr>
          <p:cNvPr id="11" name="Text 8"/>
          <p:cNvSpPr/>
          <p:nvPr/>
        </p:nvSpPr>
        <p:spPr>
          <a:xfrm>
            <a:off x="9861233" y="4805601"/>
            <a:ext cx="3467933" cy="312301"/>
          </a:xfrm>
          <a:prstGeom prst="rect">
            <a:avLst/>
          </a:prstGeom>
          <a:noFill/>
          <a:ln/>
        </p:spPr>
        <p:txBody>
          <a:bodyPr wrap="none" lIns="0" tIns="0" rIns="0" bIns="0" rtlCol="0" anchor="t"/>
          <a:lstStyle/>
          <a:p>
            <a:pPr marL="0" indent="0">
              <a:lnSpc>
                <a:spcPts val="2450"/>
              </a:lnSpc>
              <a:buNone/>
            </a:pPr>
            <a:r>
              <a:rPr lang="en-US" sz="1950" dirty="0">
                <a:solidFill>
                  <a:srgbClr val="DCD7E5"/>
                </a:solidFill>
                <a:latin typeface="Montserrat" pitchFamily="34" charset="0"/>
                <a:ea typeface="Montserrat" pitchFamily="34" charset="-122"/>
                <a:cs typeface="Montserrat" pitchFamily="34" charset="-120"/>
              </a:rPr>
              <a:t>Machine Learning Pipelines</a:t>
            </a:r>
            <a:endParaRPr lang="en-US" sz="1950" dirty="0"/>
          </a:p>
        </p:txBody>
      </p:sp>
      <p:sp>
        <p:nvSpPr>
          <p:cNvPr id="12" name="Text 9"/>
          <p:cNvSpPr/>
          <p:nvPr/>
        </p:nvSpPr>
        <p:spPr>
          <a:xfrm>
            <a:off x="9861233" y="5237798"/>
            <a:ext cx="3862030" cy="1918811"/>
          </a:xfrm>
          <a:prstGeom prst="rect">
            <a:avLst/>
          </a:prstGeom>
          <a:noFill/>
          <a:ln/>
        </p:spPr>
        <p:txBody>
          <a:bodyPr wrap="square" lIns="0" tIns="0" rIns="0" bIns="0" rtlCol="0" anchor="t"/>
          <a:lstStyle/>
          <a:p>
            <a:pPr marL="0" indent="0">
              <a:lnSpc>
                <a:spcPts val="2500"/>
              </a:lnSpc>
              <a:buNone/>
            </a:pPr>
            <a:r>
              <a:rPr lang="en-US" sz="1550" dirty="0">
                <a:solidFill>
                  <a:srgbClr val="DCD7E5"/>
                </a:solidFill>
                <a:latin typeface="Heebo Light" pitchFamily="34" charset="0"/>
                <a:ea typeface="Heebo Light" pitchFamily="34" charset="-122"/>
                <a:cs typeface="Heebo Light" pitchFamily="34" charset="-120"/>
              </a:rPr>
              <a:t>I will be exploring machine learning pipelines, automating the process of data preprocessing, model training, and evaluation. This will involve using tools like MLflow and Kubeflow to create efficient and scalable ML pipelines.</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17471" y="663416"/>
            <a:ext cx="7709059" cy="1281113"/>
          </a:xfrm>
          <a:prstGeom prst="rect">
            <a:avLst/>
          </a:prstGeom>
          <a:noFill/>
          <a:ln/>
        </p:spPr>
        <p:txBody>
          <a:bodyPr wrap="square" lIns="0" tIns="0" rIns="0" bIns="0" rtlCol="0" anchor="t"/>
          <a:lstStyle/>
          <a:p>
            <a:pPr marL="0" indent="0">
              <a:lnSpc>
                <a:spcPts val="5000"/>
              </a:lnSpc>
              <a:buNone/>
            </a:pPr>
            <a:r>
              <a:rPr lang="en-US" sz="4000" dirty="0">
                <a:solidFill>
                  <a:srgbClr val="F2F0F4"/>
                </a:solidFill>
                <a:latin typeface="Montserrat" pitchFamily="34" charset="0"/>
                <a:ea typeface="Montserrat" pitchFamily="34" charset="-122"/>
                <a:cs typeface="Montserrat" pitchFamily="34" charset="-120"/>
              </a:rPr>
              <a:t>Technical Growth Metrics: Quantifying Progress</a:t>
            </a:r>
            <a:endParaRPr lang="en-US" sz="4000" dirty="0"/>
          </a:p>
        </p:txBody>
      </p:sp>
      <p:pic>
        <p:nvPicPr>
          <p:cNvPr id="4" name="Image 1" descr="preencoded.png"/>
          <p:cNvPicPr>
            <a:picLocks noChangeAspect="1"/>
          </p:cNvPicPr>
          <p:nvPr/>
        </p:nvPicPr>
        <p:blipFill>
          <a:blip r:embed="rId4"/>
          <a:stretch>
            <a:fillRect/>
          </a:stretch>
        </p:blipFill>
        <p:spPr>
          <a:xfrm>
            <a:off x="717471" y="2251948"/>
            <a:ext cx="1024890" cy="1837134"/>
          </a:xfrm>
          <a:prstGeom prst="rect">
            <a:avLst/>
          </a:prstGeom>
        </p:spPr>
      </p:pic>
      <p:sp>
        <p:nvSpPr>
          <p:cNvPr id="5" name="Text 1"/>
          <p:cNvSpPr/>
          <p:nvPr/>
        </p:nvSpPr>
        <p:spPr>
          <a:xfrm>
            <a:off x="2049780" y="2456855"/>
            <a:ext cx="3347561" cy="320278"/>
          </a:xfrm>
          <a:prstGeom prst="rect">
            <a:avLst/>
          </a:prstGeom>
          <a:noFill/>
          <a:ln/>
        </p:spPr>
        <p:txBody>
          <a:bodyPr wrap="none" lIns="0" tIns="0" rIns="0" bIns="0" rtlCol="0" anchor="t"/>
          <a:lstStyle/>
          <a:p>
            <a:pPr marL="0" indent="0" algn="l">
              <a:lnSpc>
                <a:spcPts val="2500"/>
              </a:lnSpc>
              <a:buNone/>
            </a:pPr>
            <a:r>
              <a:rPr lang="en-US" sz="2000" dirty="0">
                <a:solidFill>
                  <a:srgbClr val="DCD7E5"/>
                </a:solidFill>
                <a:latin typeface="Montserrat" pitchFamily="34" charset="0"/>
                <a:ea typeface="Montserrat" pitchFamily="34" charset="-122"/>
                <a:cs typeface="Montserrat" pitchFamily="34" charset="-120"/>
              </a:rPr>
              <a:t>Increased model accuracy</a:t>
            </a:r>
            <a:endParaRPr lang="en-US" sz="2000" dirty="0"/>
          </a:p>
        </p:txBody>
      </p:sp>
      <p:sp>
        <p:nvSpPr>
          <p:cNvPr id="6" name="Text 2"/>
          <p:cNvSpPr/>
          <p:nvPr/>
        </p:nvSpPr>
        <p:spPr>
          <a:xfrm>
            <a:off x="2049780" y="2900124"/>
            <a:ext cx="6376749" cy="984052"/>
          </a:xfrm>
          <a:prstGeom prst="rect">
            <a:avLst/>
          </a:prstGeom>
          <a:noFill/>
          <a:ln/>
        </p:spPr>
        <p:txBody>
          <a:bodyPr wrap="squar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Improved model accuracy on various benchmarks by implementing data augmentation techniques and fine-tuning model hyperparameters.</a:t>
            </a:r>
            <a:endParaRPr lang="en-US" sz="1600" dirty="0"/>
          </a:p>
        </p:txBody>
      </p:sp>
      <p:pic>
        <p:nvPicPr>
          <p:cNvPr id="7" name="Image 2" descr="preencoded.png"/>
          <p:cNvPicPr>
            <a:picLocks noChangeAspect="1"/>
          </p:cNvPicPr>
          <p:nvPr/>
        </p:nvPicPr>
        <p:blipFill>
          <a:blip r:embed="rId5"/>
          <a:stretch>
            <a:fillRect/>
          </a:stretch>
        </p:blipFill>
        <p:spPr>
          <a:xfrm>
            <a:off x="717471" y="4089083"/>
            <a:ext cx="1024890" cy="1639967"/>
          </a:xfrm>
          <a:prstGeom prst="rect">
            <a:avLst/>
          </a:prstGeom>
        </p:spPr>
      </p:pic>
      <p:sp>
        <p:nvSpPr>
          <p:cNvPr id="8" name="Text 3"/>
          <p:cNvSpPr/>
          <p:nvPr/>
        </p:nvSpPr>
        <p:spPr>
          <a:xfrm>
            <a:off x="2049780" y="4293989"/>
            <a:ext cx="2896076" cy="320278"/>
          </a:xfrm>
          <a:prstGeom prst="rect">
            <a:avLst/>
          </a:prstGeom>
          <a:noFill/>
          <a:ln/>
        </p:spPr>
        <p:txBody>
          <a:bodyPr wrap="none" lIns="0" tIns="0" rIns="0" bIns="0" rtlCol="0" anchor="t"/>
          <a:lstStyle/>
          <a:p>
            <a:pPr marL="0" indent="0" algn="l">
              <a:lnSpc>
                <a:spcPts val="2500"/>
              </a:lnSpc>
              <a:buNone/>
            </a:pPr>
            <a:r>
              <a:rPr lang="en-US" sz="2000" dirty="0">
                <a:solidFill>
                  <a:srgbClr val="DCD7E5"/>
                </a:solidFill>
                <a:latin typeface="Montserrat" pitchFamily="34" charset="0"/>
                <a:ea typeface="Montserrat" pitchFamily="34" charset="-122"/>
                <a:cs typeface="Montserrat" pitchFamily="34" charset="-120"/>
              </a:rPr>
              <a:t>Reduced training time</a:t>
            </a:r>
            <a:endParaRPr lang="en-US" sz="2000" dirty="0"/>
          </a:p>
        </p:txBody>
      </p:sp>
      <p:sp>
        <p:nvSpPr>
          <p:cNvPr id="9" name="Text 4"/>
          <p:cNvSpPr/>
          <p:nvPr/>
        </p:nvSpPr>
        <p:spPr>
          <a:xfrm>
            <a:off x="2049780" y="4737259"/>
            <a:ext cx="6376749" cy="656034"/>
          </a:xfrm>
          <a:prstGeom prst="rect">
            <a:avLst/>
          </a:prstGeom>
          <a:noFill/>
          <a:ln/>
        </p:spPr>
        <p:txBody>
          <a:bodyPr wrap="squar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Optimized model training processes by leveraging GPU acceleration and distributed training techniques, resulting in faster training times.</a:t>
            </a:r>
            <a:endParaRPr lang="en-US" sz="1600" dirty="0"/>
          </a:p>
        </p:txBody>
      </p:sp>
      <p:pic>
        <p:nvPicPr>
          <p:cNvPr id="10" name="Image 3" descr="preencoded.png"/>
          <p:cNvPicPr>
            <a:picLocks noChangeAspect="1"/>
          </p:cNvPicPr>
          <p:nvPr/>
        </p:nvPicPr>
        <p:blipFill>
          <a:blip r:embed="rId6"/>
          <a:stretch>
            <a:fillRect/>
          </a:stretch>
        </p:blipFill>
        <p:spPr>
          <a:xfrm>
            <a:off x="717471" y="5729049"/>
            <a:ext cx="1024890" cy="1837134"/>
          </a:xfrm>
          <a:prstGeom prst="rect">
            <a:avLst/>
          </a:prstGeom>
        </p:spPr>
      </p:pic>
      <p:sp>
        <p:nvSpPr>
          <p:cNvPr id="11" name="Text 5"/>
          <p:cNvSpPr/>
          <p:nvPr/>
        </p:nvSpPr>
        <p:spPr>
          <a:xfrm>
            <a:off x="2049780" y="5933956"/>
            <a:ext cx="3494365" cy="320278"/>
          </a:xfrm>
          <a:prstGeom prst="rect">
            <a:avLst/>
          </a:prstGeom>
          <a:noFill/>
          <a:ln/>
        </p:spPr>
        <p:txBody>
          <a:bodyPr wrap="none" lIns="0" tIns="0" rIns="0" bIns="0" rtlCol="0" anchor="t"/>
          <a:lstStyle/>
          <a:p>
            <a:pPr marL="0" indent="0" algn="l">
              <a:lnSpc>
                <a:spcPts val="2500"/>
              </a:lnSpc>
              <a:buNone/>
            </a:pPr>
            <a:r>
              <a:rPr lang="en-US" sz="2000" dirty="0">
                <a:solidFill>
                  <a:srgbClr val="DCD7E5"/>
                </a:solidFill>
                <a:latin typeface="Montserrat" pitchFamily="34" charset="0"/>
                <a:ea typeface="Montserrat" pitchFamily="34" charset="-122"/>
                <a:cs typeface="Montserrat" pitchFamily="34" charset="-120"/>
              </a:rPr>
              <a:t>Enhanced model efficiency</a:t>
            </a:r>
            <a:endParaRPr lang="en-US" sz="2000" dirty="0"/>
          </a:p>
        </p:txBody>
      </p:sp>
      <p:sp>
        <p:nvSpPr>
          <p:cNvPr id="12" name="Text 6"/>
          <p:cNvSpPr/>
          <p:nvPr/>
        </p:nvSpPr>
        <p:spPr>
          <a:xfrm>
            <a:off x="2049780" y="6377226"/>
            <a:ext cx="6376749" cy="984052"/>
          </a:xfrm>
          <a:prstGeom prst="rect">
            <a:avLst/>
          </a:prstGeom>
          <a:noFill/>
          <a:ln/>
        </p:spPr>
        <p:txBody>
          <a:bodyPr wrap="squar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Developed strategies to reduce model size and complexity while maintaining performance, improving model efficiency and reducing computational overhead.</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32934"/>
          </a:xfrm>
          <a:prstGeom prst="rect">
            <a:avLst/>
          </a:prstGeom>
        </p:spPr>
      </p:pic>
      <p:sp>
        <p:nvSpPr>
          <p:cNvPr id="3" name="Text 0"/>
          <p:cNvSpPr/>
          <p:nvPr/>
        </p:nvSpPr>
        <p:spPr>
          <a:xfrm>
            <a:off x="6115050" y="493871"/>
            <a:ext cx="7886700" cy="1122759"/>
          </a:xfrm>
          <a:prstGeom prst="rect">
            <a:avLst/>
          </a:prstGeom>
          <a:noFill/>
          <a:ln/>
        </p:spPr>
        <p:txBody>
          <a:bodyPr wrap="square" lIns="0" tIns="0" rIns="0" bIns="0" rtlCol="0" anchor="t"/>
          <a:lstStyle/>
          <a:p>
            <a:pPr marL="0" indent="0">
              <a:lnSpc>
                <a:spcPts val="4400"/>
              </a:lnSpc>
              <a:buNone/>
            </a:pPr>
            <a:r>
              <a:rPr lang="en-US" sz="3500" dirty="0">
                <a:solidFill>
                  <a:srgbClr val="F2F0F4"/>
                </a:solidFill>
                <a:latin typeface="Montserrat" pitchFamily="34" charset="0"/>
                <a:ea typeface="Montserrat" pitchFamily="34" charset="-122"/>
                <a:cs typeface="Montserrat" pitchFamily="34" charset="-120"/>
              </a:rPr>
              <a:t>Collaborating with Cross-Functional Teams</a:t>
            </a:r>
            <a:endParaRPr lang="en-US" sz="3500" dirty="0"/>
          </a:p>
        </p:txBody>
      </p:sp>
      <p:pic>
        <p:nvPicPr>
          <p:cNvPr id="4" name="Image 1" descr="preencoded.png"/>
          <p:cNvPicPr>
            <a:picLocks noChangeAspect="1"/>
          </p:cNvPicPr>
          <p:nvPr/>
        </p:nvPicPr>
        <p:blipFill>
          <a:blip r:embed="rId4"/>
          <a:stretch>
            <a:fillRect/>
          </a:stretch>
        </p:blipFill>
        <p:spPr>
          <a:xfrm>
            <a:off x="6115050" y="1886069"/>
            <a:ext cx="448985" cy="448985"/>
          </a:xfrm>
          <a:prstGeom prst="rect">
            <a:avLst/>
          </a:prstGeom>
        </p:spPr>
      </p:pic>
      <p:sp>
        <p:nvSpPr>
          <p:cNvPr id="5" name="Text 1"/>
          <p:cNvSpPr/>
          <p:nvPr/>
        </p:nvSpPr>
        <p:spPr>
          <a:xfrm>
            <a:off x="6115050" y="2514600"/>
            <a:ext cx="2864763" cy="280630"/>
          </a:xfrm>
          <a:prstGeom prst="rect">
            <a:avLst/>
          </a:prstGeom>
          <a:noFill/>
          <a:ln/>
        </p:spPr>
        <p:txBody>
          <a:bodyPr wrap="none" lIns="0" tIns="0" rIns="0" bIns="0" rtlCol="0" anchor="t"/>
          <a:lstStyle/>
          <a:p>
            <a:pPr marL="0" indent="0" algn="l">
              <a:lnSpc>
                <a:spcPts val="2200"/>
              </a:lnSpc>
              <a:buNone/>
            </a:pPr>
            <a:r>
              <a:rPr lang="en-US" sz="1750" dirty="0">
                <a:solidFill>
                  <a:srgbClr val="DCD7E5"/>
                </a:solidFill>
                <a:latin typeface="Montserrat" pitchFamily="34" charset="0"/>
                <a:ea typeface="Montserrat" pitchFamily="34" charset="-122"/>
                <a:cs typeface="Montserrat" pitchFamily="34" charset="-120"/>
              </a:rPr>
              <a:t>Effective Communication</a:t>
            </a:r>
            <a:endParaRPr lang="en-US" sz="1750" dirty="0"/>
          </a:p>
        </p:txBody>
      </p:sp>
      <p:sp>
        <p:nvSpPr>
          <p:cNvPr id="6" name="Text 2"/>
          <p:cNvSpPr/>
          <p:nvPr/>
        </p:nvSpPr>
        <p:spPr>
          <a:xfrm>
            <a:off x="6115050" y="2902982"/>
            <a:ext cx="7886700" cy="574834"/>
          </a:xfrm>
          <a:prstGeom prst="rect">
            <a:avLst/>
          </a:prstGeom>
          <a:noFill/>
          <a:ln/>
        </p:spPr>
        <p:txBody>
          <a:bodyPr wrap="square" lIns="0" tIns="0" rIns="0" bIns="0" rtlCol="0" anchor="t"/>
          <a:lstStyle/>
          <a:p>
            <a:pPr marL="0" indent="0" algn="l">
              <a:lnSpc>
                <a:spcPts val="2250"/>
              </a:lnSpc>
              <a:buNone/>
            </a:pPr>
            <a:r>
              <a:rPr lang="en-US" sz="1400" dirty="0">
                <a:solidFill>
                  <a:srgbClr val="DCD7E5"/>
                </a:solidFill>
                <a:latin typeface="Heebo Light" pitchFamily="34" charset="0"/>
                <a:ea typeface="Heebo Light" pitchFamily="34" charset="-122"/>
                <a:cs typeface="Heebo Light" pitchFamily="34" charset="-120"/>
              </a:rPr>
              <a:t>Collaborated with engineers, designers, and product managers to effectively communicate technical concepts and ensure clear alignment across teams.</a:t>
            </a:r>
            <a:endParaRPr lang="en-US" sz="1400" dirty="0"/>
          </a:p>
        </p:txBody>
      </p:sp>
      <p:pic>
        <p:nvPicPr>
          <p:cNvPr id="7" name="Image 2" descr="preencoded.png"/>
          <p:cNvPicPr>
            <a:picLocks noChangeAspect="1"/>
          </p:cNvPicPr>
          <p:nvPr/>
        </p:nvPicPr>
        <p:blipFill>
          <a:blip r:embed="rId5"/>
          <a:stretch>
            <a:fillRect/>
          </a:stretch>
        </p:blipFill>
        <p:spPr>
          <a:xfrm>
            <a:off x="6115050" y="4016693"/>
            <a:ext cx="448985" cy="448985"/>
          </a:xfrm>
          <a:prstGeom prst="rect">
            <a:avLst/>
          </a:prstGeom>
        </p:spPr>
      </p:pic>
      <p:sp>
        <p:nvSpPr>
          <p:cNvPr id="8" name="Text 3"/>
          <p:cNvSpPr/>
          <p:nvPr/>
        </p:nvSpPr>
        <p:spPr>
          <a:xfrm>
            <a:off x="6115050" y="4645223"/>
            <a:ext cx="2583775" cy="280630"/>
          </a:xfrm>
          <a:prstGeom prst="rect">
            <a:avLst/>
          </a:prstGeom>
          <a:noFill/>
          <a:ln/>
        </p:spPr>
        <p:txBody>
          <a:bodyPr wrap="none" lIns="0" tIns="0" rIns="0" bIns="0" rtlCol="0" anchor="t"/>
          <a:lstStyle/>
          <a:p>
            <a:pPr marL="0" indent="0" algn="l">
              <a:lnSpc>
                <a:spcPts val="2200"/>
              </a:lnSpc>
              <a:buNone/>
            </a:pPr>
            <a:r>
              <a:rPr lang="en-US" sz="1750" dirty="0">
                <a:solidFill>
                  <a:srgbClr val="DCD7E5"/>
                </a:solidFill>
                <a:latin typeface="Montserrat" pitchFamily="34" charset="0"/>
                <a:ea typeface="Montserrat" pitchFamily="34" charset="-122"/>
                <a:cs typeface="Montserrat" pitchFamily="34" charset="-120"/>
              </a:rPr>
              <a:t>Constructive Feedback</a:t>
            </a:r>
            <a:endParaRPr lang="en-US" sz="1750" dirty="0"/>
          </a:p>
        </p:txBody>
      </p:sp>
      <p:sp>
        <p:nvSpPr>
          <p:cNvPr id="9" name="Text 4"/>
          <p:cNvSpPr/>
          <p:nvPr/>
        </p:nvSpPr>
        <p:spPr>
          <a:xfrm>
            <a:off x="6115050" y="5033605"/>
            <a:ext cx="7886700" cy="574834"/>
          </a:xfrm>
          <a:prstGeom prst="rect">
            <a:avLst/>
          </a:prstGeom>
          <a:noFill/>
          <a:ln/>
        </p:spPr>
        <p:txBody>
          <a:bodyPr wrap="square" lIns="0" tIns="0" rIns="0" bIns="0" rtlCol="0" anchor="t"/>
          <a:lstStyle/>
          <a:p>
            <a:pPr marL="0" indent="0" algn="l">
              <a:lnSpc>
                <a:spcPts val="2250"/>
              </a:lnSpc>
              <a:buNone/>
            </a:pPr>
            <a:r>
              <a:rPr lang="en-US" sz="1400" dirty="0">
                <a:solidFill>
                  <a:srgbClr val="DCD7E5"/>
                </a:solidFill>
                <a:latin typeface="Heebo Light" pitchFamily="34" charset="0"/>
                <a:ea typeface="Heebo Light" pitchFamily="34" charset="-122"/>
                <a:cs typeface="Heebo Light" pitchFamily="34" charset="-120"/>
              </a:rPr>
              <a:t>Actively sought and provided constructive feedback to team members, fostering an environment of continuous improvement and knowledge sharing.</a:t>
            </a:r>
            <a:endParaRPr lang="en-US" sz="1400" dirty="0"/>
          </a:p>
        </p:txBody>
      </p:sp>
      <p:pic>
        <p:nvPicPr>
          <p:cNvPr id="10" name="Image 3" descr="preencoded.png"/>
          <p:cNvPicPr>
            <a:picLocks noChangeAspect="1"/>
          </p:cNvPicPr>
          <p:nvPr/>
        </p:nvPicPr>
        <p:blipFill>
          <a:blip r:embed="rId6"/>
          <a:stretch>
            <a:fillRect/>
          </a:stretch>
        </p:blipFill>
        <p:spPr>
          <a:xfrm>
            <a:off x="6115050" y="6147316"/>
            <a:ext cx="448985" cy="448985"/>
          </a:xfrm>
          <a:prstGeom prst="rect">
            <a:avLst/>
          </a:prstGeom>
        </p:spPr>
      </p:pic>
      <p:sp>
        <p:nvSpPr>
          <p:cNvPr id="11" name="Text 5"/>
          <p:cNvSpPr/>
          <p:nvPr/>
        </p:nvSpPr>
        <p:spPr>
          <a:xfrm>
            <a:off x="6115050" y="6775847"/>
            <a:ext cx="3396377" cy="280630"/>
          </a:xfrm>
          <a:prstGeom prst="rect">
            <a:avLst/>
          </a:prstGeom>
          <a:noFill/>
          <a:ln/>
        </p:spPr>
        <p:txBody>
          <a:bodyPr wrap="none" lIns="0" tIns="0" rIns="0" bIns="0" rtlCol="0" anchor="t"/>
          <a:lstStyle/>
          <a:p>
            <a:pPr marL="0" indent="0" algn="l">
              <a:lnSpc>
                <a:spcPts val="2200"/>
              </a:lnSpc>
              <a:buNone/>
            </a:pPr>
            <a:r>
              <a:rPr lang="en-US" sz="1750" dirty="0">
                <a:solidFill>
                  <a:srgbClr val="DCD7E5"/>
                </a:solidFill>
                <a:latin typeface="Montserrat" pitchFamily="34" charset="0"/>
                <a:ea typeface="Montserrat" pitchFamily="34" charset="-122"/>
                <a:cs typeface="Montserrat" pitchFamily="34" charset="-120"/>
              </a:rPr>
              <a:t>Collaborative Problem-Solving</a:t>
            </a:r>
            <a:endParaRPr lang="en-US" sz="1750" dirty="0"/>
          </a:p>
        </p:txBody>
      </p:sp>
      <p:sp>
        <p:nvSpPr>
          <p:cNvPr id="12" name="Text 6"/>
          <p:cNvSpPr/>
          <p:nvPr/>
        </p:nvSpPr>
        <p:spPr>
          <a:xfrm>
            <a:off x="6115050" y="7164229"/>
            <a:ext cx="7886700" cy="574834"/>
          </a:xfrm>
          <a:prstGeom prst="rect">
            <a:avLst/>
          </a:prstGeom>
          <a:noFill/>
          <a:ln/>
        </p:spPr>
        <p:txBody>
          <a:bodyPr wrap="square" lIns="0" tIns="0" rIns="0" bIns="0" rtlCol="0" anchor="t"/>
          <a:lstStyle/>
          <a:p>
            <a:pPr marL="0" indent="0" algn="l">
              <a:lnSpc>
                <a:spcPts val="2250"/>
              </a:lnSpc>
              <a:buNone/>
            </a:pPr>
            <a:r>
              <a:rPr lang="en-US" sz="1400" dirty="0">
                <a:solidFill>
                  <a:srgbClr val="DCD7E5"/>
                </a:solidFill>
                <a:latin typeface="Heebo Light" pitchFamily="34" charset="0"/>
                <a:ea typeface="Heebo Light" pitchFamily="34" charset="-122"/>
                <a:cs typeface="Heebo Light" pitchFamily="34" charset="-120"/>
              </a:rPr>
              <a:t>Worked collaboratively with team members to overcome technical challenges, leveraging each other's strengths to achieve common goals.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19470" y="408146"/>
            <a:ext cx="4682014" cy="463868"/>
          </a:xfrm>
          <a:prstGeom prst="rect">
            <a:avLst/>
          </a:prstGeom>
          <a:noFill/>
          <a:ln/>
        </p:spPr>
        <p:txBody>
          <a:bodyPr wrap="none" lIns="0" tIns="0" rIns="0" bIns="0" rtlCol="0" anchor="t"/>
          <a:lstStyle/>
          <a:p>
            <a:pPr marL="0" indent="0">
              <a:lnSpc>
                <a:spcPts val="3650"/>
              </a:lnSpc>
              <a:buNone/>
            </a:pPr>
            <a:r>
              <a:rPr lang="en-US" sz="2900" dirty="0">
                <a:solidFill>
                  <a:srgbClr val="F2F0F4"/>
                </a:solidFill>
                <a:latin typeface="Montserrat" pitchFamily="34" charset="0"/>
                <a:ea typeface="Montserrat" pitchFamily="34" charset="-122"/>
                <a:cs typeface="Montserrat" pitchFamily="34" charset="-120"/>
              </a:rPr>
              <a:t>Growth Areas &amp; Expertise</a:t>
            </a:r>
            <a:endParaRPr lang="en-US" sz="2900" dirty="0"/>
          </a:p>
        </p:txBody>
      </p:sp>
      <p:pic>
        <p:nvPicPr>
          <p:cNvPr id="3" name="Image 0" descr="preencoded.png"/>
          <p:cNvPicPr>
            <a:picLocks noChangeAspect="1"/>
          </p:cNvPicPr>
          <p:nvPr/>
        </p:nvPicPr>
        <p:blipFill>
          <a:blip r:embed="rId3"/>
          <a:stretch>
            <a:fillRect/>
          </a:stretch>
        </p:blipFill>
        <p:spPr>
          <a:xfrm>
            <a:off x="519470" y="1168837"/>
            <a:ext cx="13591461" cy="7432358"/>
          </a:xfrm>
          <a:prstGeom prst="rect">
            <a:avLst/>
          </a:prstGeom>
        </p:spPr>
      </p:pic>
      <p:sp>
        <p:nvSpPr>
          <p:cNvPr id="4" name="Shape 1"/>
          <p:cNvSpPr/>
          <p:nvPr/>
        </p:nvSpPr>
        <p:spPr>
          <a:xfrm>
            <a:off x="1982033" y="8631674"/>
            <a:ext cx="148352" cy="148352"/>
          </a:xfrm>
          <a:prstGeom prst="roundRect">
            <a:avLst>
              <a:gd name="adj" fmla="val 12327"/>
            </a:avLst>
          </a:prstGeom>
          <a:solidFill>
            <a:srgbClr val="351575"/>
          </a:solidFill>
          <a:ln/>
        </p:spPr>
        <p:txBody>
          <a:bodyPr/>
          <a:lstStyle/>
          <a:p>
            <a:endParaRPr lang="en-IN"/>
          </a:p>
        </p:txBody>
      </p:sp>
      <p:sp>
        <p:nvSpPr>
          <p:cNvPr id="5" name="Text 2"/>
          <p:cNvSpPr/>
          <p:nvPr/>
        </p:nvSpPr>
        <p:spPr>
          <a:xfrm>
            <a:off x="2191345" y="8631674"/>
            <a:ext cx="1611630" cy="148352"/>
          </a:xfrm>
          <a:prstGeom prst="rect">
            <a:avLst/>
          </a:prstGeom>
          <a:noFill/>
          <a:ln/>
        </p:spPr>
        <p:txBody>
          <a:bodyPr wrap="none" lIns="0" tIns="0" rIns="0" bIns="0" rtlCol="0" anchor="t"/>
          <a:lstStyle/>
          <a:p>
            <a:pPr marL="0" indent="0" algn="l">
              <a:lnSpc>
                <a:spcPts val="1150"/>
              </a:lnSpc>
              <a:buNone/>
            </a:pPr>
            <a:r>
              <a:rPr lang="en-US" sz="1150" dirty="0">
                <a:solidFill>
                  <a:srgbClr val="DCD7E5"/>
                </a:solidFill>
                <a:latin typeface="Heebo Light" pitchFamily="34" charset="0"/>
                <a:ea typeface="Heebo Light" pitchFamily="34" charset="-122"/>
                <a:cs typeface="Heebo Light" pitchFamily="34" charset="-120"/>
              </a:rPr>
              <a:t>LLM Prompt Engineering</a:t>
            </a:r>
            <a:endParaRPr lang="en-US" sz="1150" dirty="0"/>
          </a:p>
        </p:txBody>
      </p:sp>
      <p:sp>
        <p:nvSpPr>
          <p:cNvPr id="6" name="Shape 3"/>
          <p:cNvSpPr/>
          <p:nvPr/>
        </p:nvSpPr>
        <p:spPr>
          <a:xfrm>
            <a:off x="4932878" y="8631674"/>
            <a:ext cx="148352" cy="148352"/>
          </a:xfrm>
          <a:prstGeom prst="roundRect">
            <a:avLst>
              <a:gd name="adj" fmla="val 12327"/>
            </a:avLst>
          </a:prstGeom>
          <a:solidFill>
            <a:srgbClr val="5722BF"/>
          </a:solidFill>
          <a:ln/>
        </p:spPr>
        <p:txBody>
          <a:bodyPr/>
          <a:lstStyle/>
          <a:p>
            <a:endParaRPr lang="en-IN"/>
          </a:p>
        </p:txBody>
      </p:sp>
      <p:sp>
        <p:nvSpPr>
          <p:cNvPr id="7" name="Text 4"/>
          <p:cNvSpPr/>
          <p:nvPr/>
        </p:nvSpPr>
        <p:spPr>
          <a:xfrm>
            <a:off x="5142190" y="8631674"/>
            <a:ext cx="1119307" cy="148352"/>
          </a:xfrm>
          <a:prstGeom prst="rect">
            <a:avLst/>
          </a:prstGeom>
          <a:noFill/>
          <a:ln/>
        </p:spPr>
        <p:txBody>
          <a:bodyPr wrap="none" lIns="0" tIns="0" rIns="0" bIns="0" rtlCol="0" anchor="t"/>
          <a:lstStyle/>
          <a:p>
            <a:pPr marL="0" indent="0" algn="l">
              <a:lnSpc>
                <a:spcPts val="1150"/>
              </a:lnSpc>
              <a:buNone/>
            </a:pPr>
            <a:r>
              <a:rPr lang="en-US" sz="1150" dirty="0">
                <a:solidFill>
                  <a:srgbClr val="DCD7E5"/>
                </a:solidFill>
                <a:latin typeface="Heebo Light" pitchFamily="34" charset="0"/>
                <a:ea typeface="Heebo Light" pitchFamily="34" charset="-122"/>
                <a:cs typeface="Heebo Light" pitchFamily="34" charset="-120"/>
              </a:rPr>
              <a:t>RAG Architecture</a:t>
            </a:r>
            <a:endParaRPr lang="en-US" sz="1150" dirty="0"/>
          </a:p>
        </p:txBody>
      </p:sp>
      <p:sp>
        <p:nvSpPr>
          <p:cNvPr id="8" name="Shape 5"/>
          <p:cNvSpPr/>
          <p:nvPr/>
        </p:nvSpPr>
        <p:spPr>
          <a:xfrm>
            <a:off x="8150662" y="8631674"/>
            <a:ext cx="148352" cy="148352"/>
          </a:xfrm>
          <a:prstGeom prst="roundRect">
            <a:avLst>
              <a:gd name="adj" fmla="val 12327"/>
            </a:avLst>
          </a:prstGeom>
          <a:solidFill>
            <a:srgbClr val="8556E1"/>
          </a:solidFill>
          <a:ln/>
        </p:spPr>
        <p:txBody>
          <a:bodyPr/>
          <a:lstStyle/>
          <a:p>
            <a:endParaRPr lang="en-IN"/>
          </a:p>
        </p:txBody>
      </p:sp>
      <p:sp>
        <p:nvSpPr>
          <p:cNvPr id="9" name="Text 6"/>
          <p:cNvSpPr/>
          <p:nvPr/>
        </p:nvSpPr>
        <p:spPr>
          <a:xfrm>
            <a:off x="8359973" y="8631674"/>
            <a:ext cx="1555552" cy="148352"/>
          </a:xfrm>
          <a:prstGeom prst="rect">
            <a:avLst/>
          </a:prstGeom>
          <a:noFill/>
          <a:ln/>
        </p:spPr>
        <p:txBody>
          <a:bodyPr wrap="none" lIns="0" tIns="0" rIns="0" bIns="0" rtlCol="0" anchor="t"/>
          <a:lstStyle/>
          <a:p>
            <a:pPr marL="0" indent="0" algn="l">
              <a:lnSpc>
                <a:spcPts val="1150"/>
              </a:lnSpc>
              <a:buNone/>
            </a:pPr>
            <a:r>
              <a:rPr lang="en-US" sz="1150" dirty="0">
                <a:solidFill>
                  <a:srgbClr val="DCD7E5"/>
                </a:solidFill>
                <a:latin typeface="Heebo Light" pitchFamily="34" charset="0"/>
                <a:ea typeface="Heebo Light" pitchFamily="34" charset="-122"/>
                <a:cs typeface="Heebo Light" pitchFamily="34" charset="-120"/>
              </a:rPr>
              <a:t>Vector DB Management</a:t>
            </a:r>
            <a:endParaRPr lang="en-US" sz="1150" dirty="0"/>
          </a:p>
        </p:txBody>
      </p:sp>
      <p:sp>
        <p:nvSpPr>
          <p:cNvPr id="10" name="Shape 7"/>
          <p:cNvSpPr/>
          <p:nvPr/>
        </p:nvSpPr>
        <p:spPr>
          <a:xfrm>
            <a:off x="10827306" y="8631674"/>
            <a:ext cx="148352" cy="148352"/>
          </a:xfrm>
          <a:prstGeom prst="roundRect">
            <a:avLst>
              <a:gd name="adj" fmla="val 12327"/>
            </a:avLst>
          </a:prstGeom>
          <a:solidFill>
            <a:srgbClr val="BAA0EE"/>
          </a:solidFill>
          <a:ln/>
        </p:spPr>
        <p:txBody>
          <a:bodyPr/>
          <a:lstStyle/>
          <a:p>
            <a:endParaRPr lang="en-IN"/>
          </a:p>
        </p:txBody>
      </p:sp>
      <p:sp>
        <p:nvSpPr>
          <p:cNvPr id="11" name="Text 8"/>
          <p:cNvSpPr/>
          <p:nvPr/>
        </p:nvSpPr>
        <p:spPr>
          <a:xfrm>
            <a:off x="11036618" y="8631674"/>
            <a:ext cx="1356241" cy="148352"/>
          </a:xfrm>
          <a:prstGeom prst="rect">
            <a:avLst/>
          </a:prstGeom>
          <a:noFill/>
          <a:ln/>
        </p:spPr>
        <p:txBody>
          <a:bodyPr wrap="none" lIns="0" tIns="0" rIns="0" bIns="0" rtlCol="0" anchor="t"/>
          <a:lstStyle/>
          <a:p>
            <a:pPr marL="0" indent="0" algn="l">
              <a:lnSpc>
                <a:spcPts val="1150"/>
              </a:lnSpc>
              <a:buNone/>
            </a:pPr>
            <a:r>
              <a:rPr lang="en-US" sz="1150" dirty="0">
                <a:solidFill>
                  <a:srgbClr val="DCD7E5"/>
                </a:solidFill>
                <a:latin typeface="Heebo Light" pitchFamily="34" charset="0"/>
                <a:ea typeface="Heebo Light" pitchFamily="34" charset="-122"/>
                <a:cs typeface="Heebo Light" pitchFamily="34" charset="-120"/>
              </a:rPr>
              <a:t>Frontend Framework</a:t>
            </a:r>
            <a:endParaRPr lang="en-US" sz="1150" dirty="0"/>
          </a:p>
        </p:txBody>
      </p:sp>
      <p:sp>
        <p:nvSpPr>
          <p:cNvPr id="12" name="Text 9"/>
          <p:cNvSpPr/>
          <p:nvPr/>
        </p:nvSpPr>
        <p:spPr>
          <a:xfrm>
            <a:off x="519470" y="8946952"/>
            <a:ext cx="13591461" cy="237530"/>
          </a:xfrm>
          <a:prstGeom prst="rect">
            <a:avLst/>
          </a:prstGeom>
          <a:noFill/>
          <a:ln/>
        </p:spPr>
        <p:txBody>
          <a:bodyPr wrap="none" lIns="0" tIns="0" rIns="0" bIns="0" rtlCol="0" anchor="t"/>
          <a:lstStyle/>
          <a:p>
            <a:pPr marL="0" indent="0">
              <a:lnSpc>
                <a:spcPts val="1850"/>
              </a:lnSpc>
              <a:buNone/>
            </a:pPr>
            <a:r>
              <a:rPr lang="en-US" sz="1150" dirty="0">
                <a:solidFill>
                  <a:srgbClr val="DCD7E5"/>
                </a:solidFill>
                <a:latin typeface="Heebo Light" pitchFamily="34" charset="0"/>
                <a:ea typeface="Heebo Light" pitchFamily="34" charset="-122"/>
                <a:cs typeface="Heebo Light" pitchFamily="34" charset="-120"/>
              </a:rPr>
              <a:t>This spider chart illustrates the areas of expertise I've developed during my internship.</a:t>
            </a:r>
            <a:endParaRPr lang="en-US" sz="1150" dirty="0"/>
          </a:p>
        </p:txBody>
      </p:sp>
      <p:sp>
        <p:nvSpPr>
          <p:cNvPr id="13" name="Text 10"/>
          <p:cNvSpPr/>
          <p:nvPr/>
        </p:nvSpPr>
        <p:spPr>
          <a:xfrm>
            <a:off x="519470" y="9351407"/>
            <a:ext cx="13591461" cy="237530"/>
          </a:xfrm>
          <a:prstGeom prst="rect">
            <a:avLst/>
          </a:prstGeom>
          <a:noFill/>
          <a:ln/>
        </p:spPr>
        <p:txBody>
          <a:bodyPr wrap="none" lIns="0" tIns="0" rIns="0" bIns="0" rtlCol="0" anchor="t"/>
          <a:lstStyle/>
          <a:p>
            <a:pPr marL="0" indent="0">
              <a:lnSpc>
                <a:spcPts val="1850"/>
              </a:lnSpc>
              <a:buNone/>
            </a:pPr>
            <a:r>
              <a:rPr lang="en-US" sz="1150" dirty="0">
                <a:solidFill>
                  <a:srgbClr val="DCD7E5"/>
                </a:solidFill>
                <a:latin typeface="Heebo Light" pitchFamily="34" charset="0"/>
                <a:ea typeface="Heebo Light" pitchFamily="34" charset="-122"/>
                <a:cs typeface="Heebo Light" pitchFamily="34" charset="-120"/>
              </a:rPr>
              <a:t>My proficiency in LLM prompt engineering, RAG architecture, and vector DB management is particularly strong.</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691527"/>
            <a:ext cx="7556421" cy="1417558"/>
          </a:xfrm>
          <a:prstGeom prst="rect">
            <a:avLst/>
          </a:prstGeom>
          <a:noFill/>
          <a:ln/>
        </p:spPr>
        <p:txBody>
          <a:bodyPr wrap="square" lIns="0" tIns="0" rIns="0" bIns="0" rtlCol="0" anchor="t"/>
          <a:lstStyle/>
          <a:p>
            <a:pPr marL="0" indent="0">
              <a:lnSpc>
                <a:spcPts val="5550"/>
              </a:lnSpc>
              <a:buNone/>
            </a:pPr>
            <a:r>
              <a:rPr lang="en-US" sz="4450" dirty="0">
                <a:solidFill>
                  <a:srgbClr val="F2F0F4"/>
                </a:solidFill>
                <a:latin typeface="Montserrat" pitchFamily="34" charset="0"/>
                <a:ea typeface="Montserrat" pitchFamily="34" charset="-122"/>
                <a:cs typeface="Montserrat" pitchFamily="34" charset="-120"/>
              </a:rPr>
              <a:t>Applying Lessons Learned to Future Endeavors</a:t>
            </a:r>
            <a:endParaRPr lang="en-US" sz="4450" dirty="0"/>
          </a:p>
        </p:txBody>
      </p:sp>
      <p:sp>
        <p:nvSpPr>
          <p:cNvPr id="4" name="Text 1"/>
          <p:cNvSpPr/>
          <p:nvPr/>
        </p:nvSpPr>
        <p:spPr>
          <a:xfrm>
            <a:off x="793790" y="4449247"/>
            <a:ext cx="7556421" cy="1088708"/>
          </a:xfrm>
          <a:prstGeom prst="rect">
            <a:avLst/>
          </a:prstGeom>
          <a:noFill/>
          <a:ln/>
        </p:spPr>
        <p:txBody>
          <a:bodyPr wrap="square" lIns="0" tIns="0" rIns="0" bIns="0" rtlCol="0" anchor="t"/>
          <a:lstStyle/>
          <a:p>
            <a:pPr marL="0" indent="0">
              <a:lnSpc>
                <a:spcPts val="2850"/>
              </a:lnSpc>
              <a:buNone/>
            </a:pPr>
            <a:r>
              <a:rPr lang="en-US" sz="1750" dirty="0">
                <a:solidFill>
                  <a:srgbClr val="DCD7E5"/>
                </a:solidFill>
                <a:latin typeface="Heebo Light" pitchFamily="34" charset="0"/>
                <a:ea typeface="Heebo Light" pitchFamily="34" charset="-122"/>
                <a:cs typeface="Heebo Light" pitchFamily="34" charset="-120"/>
              </a:rPr>
              <a:t>The knowledge and skills acquired during this internship will be invaluable in future endeavors. I am confident in my ability to contribute to real-world AI projects and continue learning and growing in this dynamic field.</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1900118"/>
            <a:ext cx="5670590" cy="708779"/>
          </a:xfrm>
          <a:prstGeom prst="rect">
            <a:avLst/>
          </a:prstGeom>
          <a:noFill/>
          <a:ln/>
        </p:spPr>
        <p:txBody>
          <a:bodyPr wrap="none" lIns="0" tIns="0" rIns="0" bIns="0" rtlCol="0" anchor="t"/>
          <a:lstStyle/>
          <a:p>
            <a:pPr marL="0" indent="0">
              <a:lnSpc>
                <a:spcPts val="5550"/>
              </a:lnSpc>
              <a:buNone/>
            </a:pPr>
            <a:r>
              <a:rPr lang="en-US" sz="4450" dirty="0">
                <a:solidFill>
                  <a:srgbClr val="F2F0F4"/>
                </a:solidFill>
                <a:latin typeface="Montserrat" pitchFamily="34" charset="0"/>
                <a:ea typeface="Montserrat" pitchFamily="34" charset="-122"/>
                <a:cs typeface="Montserrat" pitchFamily="34" charset="-120"/>
              </a:rPr>
              <a:t>Self-Evaluation</a:t>
            </a:r>
            <a:endParaRPr lang="en-US" sz="4450" dirty="0"/>
          </a:p>
        </p:txBody>
      </p:sp>
      <p:sp>
        <p:nvSpPr>
          <p:cNvPr id="3" name="Shape 1"/>
          <p:cNvSpPr/>
          <p:nvPr/>
        </p:nvSpPr>
        <p:spPr>
          <a:xfrm>
            <a:off x="793790" y="3062526"/>
            <a:ext cx="13042821" cy="3266837"/>
          </a:xfrm>
          <a:prstGeom prst="roundRect">
            <a:avLst>
              <a:gd name="adj" fmla="val 2916"/>
            </a:avLst>
          </a:prstGeom>
          <a:noFill/>
          <a:ln w="7620">
            <a:solidFill>
              <a:srgbClr val="FFFFFF">
                <a:alpha val="24000"/>
              </a:srgbClr>
            </a:solidFill>
            <a:prstDash val="solid"/>
          </a:ln>
        </p:spPr>
        <p:txBody>
          <a:bodyPr/>
          <a:lstStyle/>
          <a:p>
            <a:endParaRPr lang="en-IN"/>
          </a:p>
        </p:txBody>
      </p:sp>
      <p:sp>
        <p:nvSpPr>
          <p:cNvPr id="4" name="Shape 2"/>
          <p:cNvSpPr/>
          <p:nvPr/>
        </p:nvSpPr>
        <p:spPr>
          <a:xfrm>
            <a:off x="801410" y="3070146"/>
            <a:ext cx="13026271" cy="650319"/>
          </a:xfrm>
          <a:prstGeom prst="rect">
            <a:avLst/>
          </a:prstGeom>
          <a:solidFill>
            <a:srgbClr val="FFFFFF">
              <a:alpha val="4000"/>
            </a:srgbClr>
          </a:solidFill>
          <a:ln/>
        </p:spPr>
        <p:txBody>
          <a:bodyPr/>
          <a:lstStyle/>
          <a:p>
            <a:endParaRPr lang="en-IN"/>
          </a:p>
        </p:txBody>
      </p:sp>
      <p:sp>
        <p:nvSpPr>
          <p:cNvPr id="5" name="Text 3"/>
          <p:cNvSpPr/>
          <p:nvPr/>
        </p:nvSpPr>
        <p:spPr>
          <a:xfrm>
            <a:off x="1029653" y="3213854"/>
            <a:ext cx="3884176" cy="362903"/>
          </a:xfrm>
          <a:prstGeom prst="rect">
            <a:avLst/>
          </a:prstGeom>
          <a:noFill/>
          <a:ln/>
        </p:spPr>
        <p:txBody>
          <a:bodyPr wrap="none" lIns="0" tIns="0" rIns="0" bIns="0" rtlCol="0" anchor="t"/>
          <a:lstStyle/>
          <a:p>
            <a:pPr marL="0" indent="0">
              <a:lnSpc>
                <a:spcPts val="2850"/>
              </a:lnSpc>
              <a:buNone/>
            </a:pPr>
            <a:r>
              <a:rPr lang="en-US" sz="1750" dirty="0">
                <a:solidFill>
                  <a:srgbClr val="DCD7E5"/>
                </a:solidFill>
                <a:latin typeface="Heebo Light" pitchFamily="34" charset="0"/>
                <a:ea typeface="Heebo Light" pitchFamily="34" charset="-122"/>
                <a:cs typeface="Heebo Light" pitchFamily="34" charset="-120"/>
              </a:rPr>
              <a:t>Area</a:t>
            </a:r>
            <a:endParaRPr lang="en-US" sz="1750" dirty="0"/>
          </a:p>
        </p:txBody>
      </p:sp>
      <p:sp>
        <p:nvSpPr>
          <p:cNvPr id="6" name="Text 4"/>
          <p:cNvSpPr/>
          <p:nvPr/>
        </p:nvSpPr>
        <p:spPr>
          <a:xfrm>
            <a:off x="5375077" y="3213854"/>
            <a:ext cx="3880366" cy="362903"/>
          </a:xfrm>
          <a:prstGeom prst="rect">
            <a:avLst/>
          </a:prstGeom>
          <a:noFill/>
          <a:ln/>
        </p:spPr>
        <p:txBody>
          <a:bodyPr wrap="none" lIns="0" tIns="0" rIns="0" bIns="0" rtlCol="0" anchor="t"/>
          <a:lstStyle/>
          <a:p>
            <a:pPr marL="0" indent="0">
              <a:lnSpc>
                <a:spcPts val="2850"/>
              </a:lnSpc>
              <a:buNone/>
            </a:pPr>
            <a:r>
              <a:rPr lang="en-US" sz="1750" dirty="0">
                <a:solidFill>
                  <a:srgbClr val="DCD7E5"/>
                </a:solidFill>
                <a:latin typeface="Heebo Light" pitchFamily="34" charset="0"/>
                <a:ea typeface="Heebo Light" pitchFamily="34" charset="-122"/>
                <a:cs typeface="Heebo Light" pitchFamily="34" charset="-120"/>
              </a:rPr>
              <a:t>Rating</a:t>
            </a:r>
            <a:endParaRPr lang="en-US" sz="1750" dirty="0"/>
          </a:p>
        </p:txBody>
      </p:sp>
      <p:sp>
        <p:nvSpPr>
          <p:cNvPr id="7" name="Text 5"/>
          <p:cNvSpPr/>
          <p:nvPr/>
        </p:nvSpPr>
        <p:spPr>
          <a:xfrm>
            <a:off x="9716691" y="3213854"/>
            <a:ext cx="3884176" cy="362903"/>
          </a:xfrm>
          <a:prstGeom prst="rect">
            <a:avLst/>
          </a:prstGeom>
          <a:noFill/>
          <a:ln/>
        </p:spPr>
        <p:txBody>
          <a:bodyPr wrap="none" lIns="0" tIns="0" rIns="0" bIns="0" rtlCol="0" anchor="t"/>
          <a:lstStyle/>
          <a:p>
            <a:pPr marL="0" indent="0">
              <a:lnSpc>
                <a:spcPts val="2850"/>
              </a:lnSpc>
              <a:buNone/>
            </a:pPr>
            <a:r>
              <a:rPr lang="en-US" sz="1750" dirty="0">
                <a:solidFill>
                  <a:srgbClr val="DCD7E5"/>
                </a:solidFill>
                <a:latin typeface="Heebo Light" pitchFamily="34" charset="0"/>
                <a:ea typeface="Heebo Light" pitchFamily="34" charset="-122"/>
                <a:cs typeface="Heebo Light" pitchFamily="34" charset="-120"/>
              </a:rPr>
              <a:t>Notes</a:t>
            </a:r>
            <a:endParaRPr lang="en-US" sz="1750" dirty="0"/>
          </a:p>
        </p:txBody>
      </p:sp>
      <p:sp>
        <p:nvSpPr>
          <p:cNvPr id="8" name="Shape 6"/>
          <p:cNvSpPr/>
          <p:nvPr/>
        </p:nvSpPr>
        <p:spPr>
          <a:xfrm>
            <a:off x="801410" y="3720465"/>
            <a:ext cx="13026271" cy="650319"/>
          </a:xfrm>
          <a:prstGeom prst="rect">
            <a:avLst/>
          </a:prstGeom>
          <a:solidFill>
            <a:srgbClr val="000000">
              <a:alpha val="4000"/>
            </a:srgbClr>
          </a:solidFill>
          <a:ln/>
        </p:spPr>
        <p:txBody>
          <a:bodyPr/>
          <a:lstStyle/>
          <a:p>
            <a:endParaRPr lang="en-IN"/>
          </a:p>
        </p:txBody>
      </p:sp>
      <p:sp>
        <p:nvSpPr>
          <p:cNvPr id="9" name="Text 7"/>
          <p:cNvSpPr/>
          <p:nvPr/>
        </p:nvSpPr>
        <p:spPr>
          <a:xfrm>
            <a:off x="1029653" y="3864173"/>
            <a:ext cx="3884176" cy="362903"/>
          </a:xfrm>
          <a:prstGeom prst="rect">
            <a:avLst/>
          </a:prstGeom>
          <a:noFill/>
          <a:ln/>
        </p:spPr>
        <p:txBody>
          <a:bodyPr wrap="none" lIns="0" tIns="0" rIns="0" bIns="0" rtlCol="0" anchor="t"/>
          <a:lstStyle/>
          <a:p>
            <a:pPr marL="0" indent="0">
              <a:lnSpc>
                <a:spcPts val="2850"/>
              </a:lnSpc>
              <a:buNone/>
            </a:pPr>
            <a:r>
              <a:rPr lang="en-US" sz="1750" dirty="0">
                <a:solidFill>
                  <a:srgbClr val="DCD7E5"/>
                </a:solidFill>
                <a:latin typeface="Heebo Light" pitchFamily="34" charset="0"/>
                <a:ea typeface="Heebo Light" pitchFamily="34" charset="-122"/>
                <a:cs typeface="Heebo Light" pitchFamily="34" charset="-120"/>
              </a:rPr>
              <a:t>Technical Growth</a:t>
            </a:r>
            <a:endParaRPr lang="en-US" sz="1750" dirty="0"/>
          </a:p>
        </p:txBody>
      </p:sp>
      <p:sp>
        <p:nvSpPr>
          <p:cNvPr id="10" name="Text 8"/>
          <p:cNvSpPr/>
          <p:nvPr/>
        </p:nvSpPr>
        <p:spPr>
          <a:xfrm>
            <a:off x="5375077" y="3864173"/>
            <a:ext cx="3880366" cy="362903"/>
          </a:xfrm>
          <a:prstGeom prst="rect">
            <a:avLst/>
          </a:prstGeom>
          <a:noFill/>
          <a:ln/>
        </p:spPr>
        <p:txBody>
          <a:bodyPr wrap="none" lIns="0" tIns="0" rIns="0" bIns="0" rtlCol="0" anchor="t"/>
          <a:lstStyle/>
          <a:p>
            <a:pPr marL="0" indent="0">
              <a:lnSpc>
                <a:spcPts val="2850"/>
              </a:lnSpc>
              <a:buNone/>
            </a:pPr>
            <a:r>
              <a:rPr lang="en-US" sz="1750" dirty="0">
                <a:solidFill>
                  <a:srgbClr val="DCD7E5"/>
                </a:solidFill>
                <a:latin typeface="Heebo Light" pitchFamily="34" charset="0"/>
                <a:ea typeface="Heebo Light" pitchFamily="34" charset="-122"/>
                <a:cs typeface="Heebo Light" pitchFamily="34" charset="-120"/>
              </a:rPr>
              <a:t>★★★★☆</a:t>
            </a:r>
            <a:endParaRPr lang="en-US" sz="1750" dirty="0"/>
          </a:p>
        </p:txBody>
      </p:sp>
      <p:sp>
        <p:nvSpPr>
          <p:cNvPr id="11" name="Text 9"/>
          <p:cNvSpPr/>
          <p:nvPr/>
        </p:nvSpPr>
        <p:spPr>
          <a:xfrm>
            <a:off x="9716691" y="3864173"/>
            <a:ext cx="3884176" cy="362903"/>
          </a:xfrm>
          <a:prstGeom prst="rect">
            <a:avLst/>
          </a:prstGeom>
          <a:noFill/>
          <a:ln/>
        </p:spPr>
        <p:txBody>
          <a:bodyPr wrap="none" lIns="0" tIns="0" rIns="0" bIns="0" rtlCol="0" anchor="t"/>
          <a:lstStyle/>
          <a:p>
            <a:pPr marL="0" indent="0">
              <a:lnSpc>
                <a:spcPts val="2850"/>
              </a:lnSpc>
              <a:buNone/>
            </a:pPr>
            <a:r>
              <a:rPr lang="en-US" sz="1750" dirty="0">
                <a:solidFill>
                  <a:srgbClr val="DCD7E5"/>
                </a:solidFill>
                <a:latin typeface="Heebo Light" pitchFamily="34" charset="0"/>
                <a:ea typeface="Heebo Light" pitchFamily="34" charset="-122"/>
                <a:cs typeface="Heebo Light" pitchFamily="34" charset="-120"/>
              </a:rPr>
              <a:t>Strong progress in LLM &amp; RAG</a:t>
            </a:r>
            <a:endParaRPr lang="en-US" sz="1750" dirty="0"/>
          </a:p>
        </p:txBody>
      </p:sp>
      <p:sp>
        <p:nvSpPr>
          <p:cNvPr id="12" name="Shape 10"/>
          <p:cNvSpPr/>
          <p:nvPr/>
        </p:nvSpPr>
        <p:spPr>
          <a:xfrm>
            <a:off x="801410" y="4370784"/>
            <a:ext cx="13026271" cy="650319"/>
          </a:xfrm>
          <a:prstGeom prst="rect">
            <a:avLst/>
          </a:prstGeom>
          <a:solidFill>
            <a:srgbClr val="FFFFFF">
              <a:alpha val="4000"/>
            </a:srgbClr>
          </a:solidFill>
          <a:ln/>
        </p:spPr>
        <p:txBody>
          <a:bodyPr/>
          <a:lstStyle/>
          <a:p>
            <a:endParaRPr lang="en-IN"/>
          </a:p>
        </p:txBody>
      </p:sp>
      <p:sp>
        <p:nvSpPr>
          <p:cNvPr id="13" name="Text 11"/>
          <p:cNvSpPr/>
          <p:nvPr/>
        </p:nvSpPr>
        <p:spPr>
          <a:xfrm>
            <a:off x="1029653" y="4514493"/>
            <a:ext cx="3884176" cy="362903"/>
          </a:xfrm>
          <a:prstGeom prst="rect">
            <a:avLst/>
          </a:prstGeom>
          <a:noFill/>
          <a:ln/>
        </p:spPr>
        <p:txBody>
          <a:bodyPr wrap="none" lIns="0" tIns="0" rIns="0" bIns="0" rtlCol="0" anchor="t"/>
          <a:lstStyle/>
          <a:p>
            <a:pPr marL="0" indent="0">
              <a:lnSpc>
                <a:spcPts val="2850"/>
              </a:lnSpc>
              <a:buNone/>
            </a:pPr>
            <a:r>
              <a:rPr lang="en-US" sz="1750" dirty="0">
                <a:solidFill>
                  <a:srgbClr val="DCD7E5"/>
                </a:solidFill>
                <a:latin typeface="Heebo Light" pitchFamily="34" charset="0"/>
                <a:ea typeface="Heebo Light" pitchFamily="34" charset="-122"/>
                <a:cs typeface="Heebo Light" pitchFamily="34" charset="-120"/>
              </a:rPr>
              <a:t>Project Delivery</a:t>
            </a:r>
            <a:endParaRPr lang="en-US" sz="1750" dirty="0"/>
          </a:p>
        </p:txBody>
      </p:sp>
      <p:sp>
        <p:nvSpPr>
          <p:cNvPr id="14" name="Text 12"/>
          <p:cNvSpPr/>
          <p:nvPr/>
        </p:nvSpPr>
        <p:spPr>
          <a:xfrm>
            <a:off x="5375077" y="4514493"/>
            <a:ext cx="3880366" cy="362903"/>
          </a:xfrm>
          <a:prstGeom prst="rect">
            <a:avLst/>
          </a:prstGeom>
          <a:noFill/>
          <a:ln/>
        </p:spPr>
        <p:txBody>
          <a:bodyPr wrap="none" lIns="0" tIns="0" rIns="0" bIns="0" rtlCol="0" anchor="t"/>
          <a:lstStyle/>
          <a:p>
            <a:pPr marL="0" indent="0">
              <a:lnSpc>
                <a:spcPts val="2850"/>
              </a:lnSpc>
              <a:buNone/>
            </a:pPr>
            <a:r>
              <a:rPr lang="en-US" sz="1750" dirty="0">
                <a:solidFill>
                  <a:srgbClr val="DCD7E5"/>
                </a:solidFill>
                <a:latin typeface="Heebo Light" pitchFamily="34" charset="0"/>
                <a:ea typeface="Heebo Light" pitchFamily="34" charset="-122"/>
                <a:cs typeface="Heebo Light" pitchFamily="34" charset="-120"/>
              </a:rPr>
              <a:t>★★★★★</a:t>
            </a:r>
            <a:endParaRPr lang="en-US" sz="1750" dirty="0"/>
          </a:p>
        </p:txBody>
      </p:sp>
      <p:sp>
        <p:nvSpPr>
          <p:cNvPr id="15" name="Text 13"/>
          <p:cNvSpPr/>
          <p:nvPr/>
        </p:nvSpPr>
        <p:spPr>
          <a:xfrm>
            <a:off x="9716691" y="4514493"/>
            <a:ext cx="3884176" cy="362903"/>
          </a:xfrm>
          <a:prstGeom prst="rect">
            <a:avLst/>
          </a:prstGeom>
          <a:noFill/>
          <a:ln/>
        </p:spPr>
        <p:txBody>
          <a:bodyPr wrap="none" lIns="0" tIns="0" rIns="0" bIns="0" rtlCol="0" anchor="t"/>
          <a:lstStyle/>
          <a:p>
            <a:pPr marL="0" indent="0">
              <a:lnSpc>
                <a:spcPts val="2850"/>
              </a:lnSpc>
              <a:buNone/>
            </a:pPr>
            <a:r>
              <a:rPr lang="en-US" sz="1750" dirty="0">
                <a:solidFill>
                  <a:srgbClr val="DCD7E5"/>
                </a:solidFill>
                <a:latin typeface="Heebo Light" pitchFamily="34" charset="0"/>
                <a:ea typeface="Heebo Light" pitchFamily="34" charset="-122"/>
                <a:cs typeface="Heebo Light" pitchFamily="34" charset="-120"/>
              </a:rPr>
              <a:t>Consistent quality focus</a:t>
            </a:r>
            <a:endParaRPr lang="en-US" sz="1750" dirty="0"/>
          </a:p>
        </p:txBody>
      </p:sp>
      <p:sp>
        <p:nvSpPr>
          <p:cNvPr id="16" name="Shape 14"/>
          <p:cNvSpPr/>
          <p:nvPr/>
        </p:nvSpPr>
        <p:spPr>
          <a:xfrm>
            <a:off x="801410" y="5021104"/>
            <a:ext cx="13026271" cy="650319"/>
          </a:xfrm>
          <a:prstGeom prst="rect">
            <a:avLst/>
          </a:prstGeom>
          <a:solidFill>
            <a:srgbClr val="000000">
              <a:alpha val="4000"/>
            </a:srgbClr>
          </a:solidFill>
          <a:ln/>
        </p:spPr>
        <p:txBody>
          <a:bodyPr/>
          <a:lstStyle/>
          <a:p>
            <a:endParaRPr lang="en-IN"/>
          </a:p>
        </p:txBody>
      </p:sp>
      <p:sp>
        <p:nvSpPr>
          <p:cNvPr id="17" name="Text 15"/>
          <p:cNvSpPr/>
          <p:nvPr/>
        </p:nvSpPr>
        <p:spPr>
          <a:xfrm>
            <a:off x="1029653" y="5164812"/>
            <a:ext cx="3884176" cy="362903"/>
          </a:xfrm>
          <a:prstGeom prst="rect">
            <a:avLst/>
          </a:prstGeom>
          <a:noFill/>
          <a:ln/>
        </p:spPr>
        <p:txBody>
          <a:bodyPr wrap="none" lIns="0" tIns="0" rIns="0" bIns="0" rtlCol="0" anchor="t"/>
          <a:lstStyle/>
          <a:p>
            <a:pPr marL="0" indent="0">
              <a:lnSpc>
                <a:spcPts val="2850"/>
              </a:lnSpc>
              <a:buNone/>
            </a:pPr>
            <a:r>
              <a:rPr lang="en-US" sz="1750" dirty="0">
                <a:solidFill>
                  <a:srgbClr val="DCD7E5"/>
                </a:solidFill>
                <a:latin typeface="Heebo Light" pitchFamily="34" charset="0"/>
                <a:ea typeface="Heebo Light" pitchFamily="34" charset="-122"/>
                <a:cs typeface="Heebo Light" pitchFamily="34" charset="-120"/>
              </a:rPr>
              <a:t>Learning Agility</a:t>
            </a:r>
            <a:endParaRPr lang="en-US" sz="1750" dirty="0"/>
          </a:p>
        </p:txBody>
      </p:sp>
      <p:sp>
        <p:nvSpPr>
          <p:cNvPr id="18" name="Text 16"/>
          <p:cNvSpPr/>
          <p:nvPr/>
        </p:nvSpPr>
        <p:spPr>
          <a:xfrm>
            <a:off x="5375077" y="5164812"/>
            <a:ext cx="3880366" cy="362903"/>
          </a:xfrm>
          <a:prstGeom prst="rect">
            <a:avLst/>
          </a:prstGeom>
          <a:noFill/>
          <a:ln/>
        </p:spPr>
        <p:txBody>
          <a:bodyPr wrap="none" lIns="0" tIns="0" rIns="0" bIns="0" rtlCol="0" anchor="t"/>
          <a:lstStyle/>
          <a:p>
            <a:pPr marL="0" indent="0">
              <a:lnSpc>
                <a:spcPts val="2850"/>
              </a:lnSpc>
              <a:buNone/>
            </a:pPr>
            <a:r>
              <a:rPr lang="en-US" sz="1750" dirty="0">
                <a:solidFill>
                  <a:srgbClr val="DCD7E5"/>
                </a:solidFill>
                <a:latin typeface="Heebo Light" pitchFamily="34" charset="0"/>
                <a:ea typeface="Heebo Light" pitchFamily="34" charset="-122"/>
                <a:cs typeface="Heebo Light" pitchFamily="34" charset="-120"/>
              </a:rPr>
              <a:t>★★★★★</a:t>
            </a:r>
            <a:endParaRPr lang="en-US" sz="1750" dirty="0"/>
          </a:p>
        </p:txBody>
      </p:sp>
      <p:sp>
        <p:nvSpPr>
          <p:cNvPr id="19" name="Text 17"/>
          <p:cNvSpPr/>
          <p:nvPr/>
        </p:nvSpPr>
        <p:spPr>
          <a:xfrm>
            <a:off x="9716691" y="5164812"/>
            <a:ext cx="3884176" cy="362903"/>
          </a:xfrm>
          <a:prstGeom prst="rect">
            <a:avLst/>
          </a:prstGeom>
          <a:noFill/>
          <a:ln/>
        </p:spPr>
        <p:txBody>
          <a:bodyPr wrap="none" lIns="0" tIns="0" rIns="0" bIns="0" rtlCol="0" anchor="t"/>
          <a:lstStyle/>
          <a:p>
            <a:pPr marL="0" indent="0">
              <a:lnSpc>
                <a:spcPts val="2850"/>
              </a:lnSpc>
              <a:buNone/>
            </a:pPr>
            <a:r>
              <a:rPr lang="en-US" sz="1750" dirty="0">
                <a:solidFill>
                  <a:srgbClr val="DCD7E5"/>
                </a:solidFill>
                <a:latin typeface="Heebo Light" pitchFamily="34" charset="0"/>
                <a:ea typeface="Heebo Light" pitchFamily="34" charset="-122"/>
                <a:cs typeface="Heebo Light" pitchFamily="34" charset="-120"/>
              </a:rPr>
              <a:t>Quick tech adaptation</a:t>
            </a:r>
            <a:endParaRPr lang="en-US" sz="1750" dirty="0"/>
          </a:p>
        </p:txBody>
      </p:sp>
      <p:sp>
        <p:nvSpPr>
          <p:cNvPr id="20" name="Shape 18"/>
          <p:cNvSpPr/>
          <p:nvPr/>
        </p:nvSpPr>
        <p:spPr>
          <a:xfrm>
            <a:off x="801410" y="5671423"/>
            <a:ext cx="13026271" cy="650319"/>
          </a:xfrm>
          <a:prstGeom prst="rect">
            <a:avLst/>
          </a:prstGeom>
          <a:solidFill>
            <a:srgbClr val="FFFFFF">
              <a:alpha val="4000"/>
            </a:srgbClr>
          </a:solidFill>
          <a:ln/>
        </p:spPr>
        <p:txBody>
          <a:bodyPr/>
          <a:lstStyle/>
          <a:p>
            <a:endParaRPr lang="en-IN"/>
          </a:p>
        </p:txBody>
      </p:sp>
      <p:sp>
        <p:nvSpPr>
          <p:cNvPr id="21" name="Text 19"/>
          <p:cNvSpPr/>
          <p:nvPr/>
        </p:nvSpPr>
        <p:spPr>
          <a:xfrm>
            <a:off x="1029653" y="5815132"/>
            <a:ext cx="3884176" cy="362903"/>
          </a:xfrm>
          <a:prstGeom prst="rect">
            <a:avLst/>
          </a:prstGeom>
          <a:noFill/>
          <a:ln/>
        </p:spPr>
        <p:txBody>
          <a:bodyPr wrap="none" lIns="0" tIns="0" rIns="0" bIns="0" rtlCol="0" anchor="t"/>
          <a:lstStyle/>
          <a:p>
            <a:pPr marL="0" indent="0">
              <a:lnSpc>
                <a:spcPts val="2850"/>
              </a:lnSpc>
              <a:buNone/>
            </a:pPr>
            <a:r>
              <a:rPr lang="en-US" sz="1750" dirty="0">
                <a:solidFill>
                  <a:srgbClr val="DCD7E5"/>
                </a:solidFill>
                <a:latin typeface="Heebo Light" pitchFamily="34" charset="0"/>
                <a:ea typeface="Heebo Light" pitchFamily="34" charset="-122"/>
                <a:cs typeface="Heebo Light" pitchFamily="34" charset="-120"/>
              </a:rPr>
              <a:t>Team Collaboration</a:t>
            </a:r>
            <a:endParaRPr lang="en-US" sz="1750" dirty="0"/>
          </a:p>
        </p:txBody>
      </p:sp>
      <p:sp>
        <p:nvSpPr>
          <p:cNvPr id="22" name="Text 20"/>
          <p:cNvSpPr/>
          <p:nvPr/>
        </p:nvSpPr>
        <p:spPr>
          <a:xfrm>
            <a:off x="5375077" y="5815132"/>
            <a:ext cx="3880366" cy="362903"/>
          </a:xfrm>
          <a:prstGeom prst="rect">
            <a:avLst/>
          </a:prstGeom>
          <a:noFill/>
          <a:ln/>
        </p:spPr>
        <p:txBody>
          <a:bodyPr wrap="none" lIns="0" tIns="0" rIns="0" bIns="0" rtlCol="0" anchor="t"/>
          <a:lstStyle/>
          <a:p>
            <a:pPr marL="0" indent="0">
              <a:lnSpc>
                <a:spcPts val="2850"/>
              </a:lnSpc>
              <a:buNone/>
            </a:pPr>
            <a:r>
              <a:rPr lang="en-US" sz="1750" dirty="0">
                <a:solidFill>
                  <a:srgbClr val="DCD7E5"/>
                </a:solidFill>
                <a:latin typeface="Heebo Light" pitchFamily="34" charset="0"/>
                <a:ea typeface="Heebo Light" pitchFamily="34" charset="-122"/>
                <a:cs typeface="Heebo Light" pitchFamily="34" charset="-120"/>
              </a:rPr>
              <a:t>★★★★☆</a:t>
            </a:r>
            <a:endParaRPr lang="en-US" sz="1750" dirty="0"/>
          </a:p>
        </p:txBody>
      </p:sp>
      <p:sp>
        <p:nvSpPr>
          <p:cNvPr id="23" name="Text 21"/>
          <p:cNvSpPr/>
          <p:nvPr/>
        </p:nvSpPr>
        <p:spPr>
          <a:xfrm>
            <a:off x="9716691" y="5815132"/>
            <a:ext cx="3884176" cy="362903"/>
          </a:xfrm>
          <a:prstGeom prst="rect">
            <a:avLst/>
          </a:prstGeom>
          <a:noFill/>
          <a:ln/>
        </p:spPr>
        <p:txBody>
          <a:bodyPr wrap="none" lIns="0" tIns="0" rIns="0" bIns="0" rtlCol="0" anchor="t"/>
          <a:lstStyle/>
          <a:p>
            <a:pPr marL="0" indent="0">
              <a:lnSpc>
                <a:spcPts val="2850"/>
              </a:lnSpc>
              <a:buNone/>
            </a:pPr>
            <a:r>
              <a:rPr lang="en-US" sz="1750" dirty="0">
                <a:solidFill>
                  <a:srgbClr val="DCD7E5"/>
                </a:solidFill>
                <a:latin typeface="Heebo Light" pitchFamily="34" charset="0"/>
                <a:ea typeface="Heebo Light" pitchFamily="34" charset="-122"/>
                <a:cs typeface="Heebo Light" pitchFamily="34" charset="-120"/>
              </a:rPr>
              <a:t>Effective knowledge sharing</a:t>
            </a:r>
            <a:endParaRPr lang="en-US" sz="1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328624"/>
            <a:ext cx="7556421" cy="1417558"/>
          </a:xfrm>
          <a:prstGeom prst="rect">
            <a:avLst/>
          </a:prstGeom>
          <a:noFill/>
          <a:ln/>
        </p:spPr>
        <p:txBody>
          <a:bodyPr wrap="square" lIns="0" tIns="0" rIns="0" bIns="0" rtlCol="0" anchor="t"/>
          <a:lstStyle/>
          <a:p>
            <a:pPr marL="0" indent="0">
              <a:lnSpc>
                <a:spcPts val="5550"/>
              </a:lnSpc>
              <a:buNone/>
            </a:pPr>
            <a:r>
              <a:rPr lang="en-US" sz="4450" dirty="0">
                <a:solidFill>
                  <a:srgbClr val="F2F0F4"/>
                </a:solidFill>
                <a:latin typeface="Montserrat" pitchFamily="34" charset="0"/>
                <a:ea typeface="Montserrat" pitchFamily="34" charset="-122"/>
                <a:cs typeface="Montserrat" pitchFamily="34" charset="-120"/>
              </a:rPr>
              <a:t>Conclusion: Key Takeaways and Next Steps</a:t>
            </a:r>
            <a:endParaRPr lang="en-US" sz="4450" dirty="0"/>
          </a:p>
        </p:txBody>
      </p:sp>
      <p:sp>
        <p:nvSpPr>
          <p:cNvPr id="4" name="Text 1"/>
          <p:cNvSpPr/>
          <p:nvPr/>
        </p:nvSpPr>
        <p:spPr>
          <a:xfrm>
            <a:off x="6280190" y="4086344"/>
            <a:ext cx="7556421" cy="1814513"/>
          </a:xfrm>
          <a:prstGeom prst="rect">
            <a:avLst/>
          </a:prstGeom>
          <a:noFill/>
          <a:ln/>
        </p:spPr>
        <p:txBody>
          <a:bodyPr wrap="square" lIns="0" tIns="0" rIns="0" bIns="0" rtlCol="0" anchor="t"/>
          <a:lstStyle/>
          <a:p>
            <a:pPr marL="0" indent="0">
              <a:lnSpc>
                <a:spcPts val="2850"/>
              </a:lnSpc>
              <a:buNone/>
            </a:pPr>
            <a:r>
              <a:rPr lang="en-US" sz="1750" dirty="0">
                <a:solidFill>
                  <a:srgbClr val="DCD7E5"/>
                </a:solidFill>
                <a:latin typeface="Heebo Light" pitchFamily="34" charset="0"/>
                <a:ea typeface="Heebo Light" pitchFamily="34" charset="-122"/>
                <a:cs typeface="Heebo Light" pitchFamily="34" charset="-120"/>
              </a:rPr>
              <a:t>This internship provided me with a solid foundation in Gen-AI, equipping me with the skills and knowledge necessary to build and deploy cutting-edge AI solutions. I am excited to continue exploring advanced AI concepts and contribute to the development of innovative applications that will shape the future.</a:t>
            </a:r>
            <a:endParaRPr lang="en-US" sz="175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EE5818"/>
      </a:dk2>
      <a:lt2>
        <a:srgbClr val="EBEBEB"/>
      </a:lt2>
      <a:accent1>
        <a:srgbClr val="F5A408"/>
      </a:accent1>
      <a:accent2>
        <a:srgbClr val="FA731A"/>
      </a:accent2>
      <a:accent3>
        <a:srgbClr val="AB9281"/>
      </a:accent3>
      <a:accent4>
        <a:srgbClr val="A18CD0"/>
      </a:accent4>
      <a:accent5>
        <a:srgbClr val="8EBBD2"/>
      </a:accent5>
      <a:accent6>
        <a:srgbClr val="ACC995"/>
      </a:accent6>
      <a:hlink>
        <a:srgbClr val="FAC96A"/>
      </a:hlink>
      <a:folHlink>
        <a:srgbClr val="FCDB9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5A2F9111-B2DB-470C-BA56-608F9B658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4261</TotalTime>
  <Words>1206</Words>
  <Application>Microsoft Office PowerPoint</Application>
  <PresentationFormat>Custom</PresentationFormat>
  <Paragraphs>132</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Montserrat</vt:lpstr>
      <vt:lpstr>Heebo Bold</vt:lpstr>
      <vt:lpstr>Wingdings 3</vt:lpstr>
      <vt:lpstr>Heebo Light</vt:lpstr>
      <vt:lpstr>Century Gothic</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Tapasmita Pattanaik</cp:lastModifiedBy>
  <cp:revision>2</cp:revision>
  <dcterms:created xsi:type="dcterms:W3CDTF">2024-11-15T04:38:06Z</dcterms:created>
  <dcterms:modified xsi:type="dcterms:W3CDTF">2024-11-18T06:25:01Z</dcterms:modified>
</cp:coreProperties>
</file>